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71" r:id="rId15"/>
    <p:sldId id="274" r:id="rId16"/>
    <p:sldId id="273" r:id="rId17"/>
    <p:sldId id="276" r:id="rId18"/>
    <p:sldId id="277" r:id="rId19"/>
    <p:sldId id="278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BD3DE-189F-46CD-83E1-521F3FE1706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92515-8B20-4C03-BA2F-5E19ECE5C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09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92515-8B20-4C03-BA2F-5E19ECE5C16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64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92515-8B20-4C03-BA2F-5E19ECE5C16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97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png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8846-8123-9B9D-A64F-DC731C09C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4" y="1485274"/>
            <a:ext cx="8361229" cy="2628924"/>
          </a:xfrm>
        </p:spPr>
        <p:txBody>
          <a:bodyPr/>
          <a:lstStyle/>
          <a:p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University of agricultural sciences,banglore-560065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College of Agriculture, GKVK 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EAI-421: AI &amp; ML in Agriculture (0+10)</a:t>
            </a:r>
            <a:endParaRPr lang="en-IN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DB0F6-E240-299C-56DC-7B563B812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1" y="4114198"/>
            <a:ext cx="6831673" cy="1086237"/>
          </a:xfrm>
        </p:spPr>
        <p:txBody>
          <a:bodyPr/>
          <a:lstStyle/>
          <a:p>
            <a:r>
              <a:rPr lang="en-IN"/>
              <a:t>PROJECT TITLE – MACHINE LEARNING BASED GROUNDWATER QUALITY ANALYSIS</a:t>
            </a:r>
          </a:p>
          <a:p>
            <a:endParaRPr lang="en-IN"/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94C5B-8F87-B683-C4BE-4BD6133FF9D8}"/>
              </a:ext>
            </a:extLst>
          </p:cNvPr>
          <p:cNvSpPr txBox="1"/>
          <p:nvPr/>
        </p:nvSpPr>
        <p:spPr>
          <a:xfrm>
            <a:off x="9116833" y="4738770"/>
            <a:ext cx="1826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ID NO-AMB2016</a:t>
            </a:r>
          </a:p>
          <a:p>
            <a:r>
              <a:rPr lang="en-IN"/>
              <a:t>           AMB2103</a:t>
            </a:r>
          </a:p>
          <a:p>
            <a:r>
              <a:rPr lang="en-IN"/>
              <a:t>           AMB2177</a:t>
            </a:r>
          </a:p>
        </p:txBody>
      </p:sp>
    </p:spTree>
    <p:extLst>
      <p:ext uri="{BB962C8B-B14F-4D97-AF65-F5344CB8AC3E}">
        <p14:creationId xmlns:p14="http://schemas.microsoft.com/office/powerpoint/2010/main" val="369005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640CE-5F8C-1590-945F-2B8CEEFE694B}"/>
              </a:ext>
            </a:extLst>
          </p:cNvPr>
          <p:cNvSpPr txBox="1"/>
          <p:nvPr/>
        </p:nvSpPr>
        <p:spPr>
          <a:xfrm>
            <a:off x="1125793" y="368710"/>
            <a:ext cx="2276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Content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16CF2-692F-60AA-B08B-ABAC72AB14E2}"/>
              </a:ext>
            </a:extLst>
          </p:cNvPr>
          <p:cNvSpPr txBox="1"/>
          <p:nvPr/>
        </p:nvSpPr>
        <p:spPr>
          <a:xfrm>
            <a:off x="1125793" y="1317523"/>
            <a:ext cx="3564915" cy="5271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•Introduction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•Problem Statement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•Motivation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•Objectives of the project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•Dataset Overview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•Methodology/approach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•Tools and Technologies Used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•Results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•Discussion / Analysis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Clr>
                <a:schemeClr val="dk1"/>
              </a:buClr>
              <a:buSzPts val="523"/>
            </a:pPr>
            <a:r>
              <a:rPr lang="en-US" sz="2400">
                <a:solidFill>
                  <a:schemeClr val="dk1"/>
                </a:solidFill>
              </a:rPr>
              <a:t>•Conclusion and Future Work</a:t>
            </a:r>
          </a:p>
          <a:p>
            <a:pPr lvl="0">
              <a:lnSpc>
                <a:spcPct val="70000"/>
              </a:lnSpc>
              <a:spcBef>
                <a:spcPts val="1000"/>
              </a:spcBef>
              <a:buSzPts val="523"/>
            </a:pPr>
            <a:r>
              <a:rPr lang="en-US" sz="2400">
                <a:solidFill>
                  <a:schemeClr val="dk1"/>
                </a:solidFill>
              </a:rPr>
              <a:t>•References/Acknowledgements</a:t>
            </a:r>
            <a:endParaRPr lang="en-US" sz="2400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21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F08CB1-D2D1-0B73-6BFA-5A8C0328DF71}"/>
              </a:ext>
            </a:extLst>
          </p:cNvPr>
          <p:cNvSpPr txBox="1"/>
          <p:nvPr/>
        </p:nvSpPr>
        <p:spPr>
          <a:xfrm>
            <a:off x="1347019" y="530942"/>
            <a:ext cx="317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INTRODUCTION</a:t>
            </a:r>
            <a:endParaRPr lang="en-IN" sz="3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AE39A-37E9-F462-0AB9-DF992DF02E33}"/>
              </a:ext>
            </a:extLst>
          </p:cNvPr>
          <p:cNvSpPr txBox="1"/>
          <p:nvPr/>
        </p:nvSpPr>
        <p:spPr>
          <a:xfrm>
            <a:off x="758380" y="1657977"/>
            <a:ext cx="1114718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200"/>
              </a:spcAft>
            </a:pPr>
            <a:r>
              <a:rPr lang="en-US" sz="2400"/>
              <a:t>Groundwater is a critical resource for drinking, irrigation, and industrial applications, but its quality is increasingly impacted by natural processes and human activities.</a:t>
            </a:r>
          </a:p>
          <a:p>
            <a:pPr lvl="0">
              <a:spcAft>
                <a:spcPts val="1200"/>
              </a:spcAft>
            </a:pPr>
            <a:r>
              <a:rPr lang="en-US" sz="2400"/>
              <a:t> Timely and accurate assessment of groundwater quality is essential for sustainable management. </a:t>
            </a:r>
          </a:p>
          <a:p>
            <a:pPr lvl="0">
              <a:spcAft>
                <a:spcPts val="1200"/>
              </a:spcAft>
            </a:pPr>
            <a:r>
              <a:rPr lang="en-US" sz="2400"/>
              <a:t>This capstone project presents the development of an Artificial Intelligence (AI) and Machine Learning (ML)-based system to analyze and predict groundwater quality using real-world datasets, enhancing the efficiency of traditional evaluation methods.</a:t>
            </a:r>
          </a:p>
          <a:p>
            <a:pPr lvl="0">
              <a:spcAft>
                <a:spcPts val="1200"/>
              </a:spcAft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5472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B29FA-C5FE-B109-696E-D3705D80358B}"/>
              </a:ext>
            </a:extLst>
          </p:cNvPr>
          <p:cNvSpPr txBox="1"/>
          <p:nvPr/>
        </p:nvSpPr>
        <p:spPr>
          <a:xfrm>
            <a:off x="1238865" y="373626"/>
            <a:ext cx="4557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PROBLEM STATEMENT</a:t>
            </a:r>
            <a:endParaRPr lang="en-IN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779F0-D13D-12B6-AFF9-1A385FB4D365}"/>
              </a:ext>
            </a:extLst>
          </p:cNvPr>
          <p:cNvSpPr txBox="1"/>
          <p:nvPr/>
        </p:nvSpPr>
        <p:spPr>
          <a:xfrm>
            <a:off x="1238864" y="1263445"/>
            <a:ext cx="868188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- Groundwater quality assessment is crucial for safe drinking water and agriculture.</a:t>
            </a:r>
          </a:p>
          <a:p>
            <a:r>
              <a:rPr lang="en-US" sz="2400"/>
              <a:t>- Traditional methods are time-consuming, costly, and lack real-time insights.</a:t>
            </a:r>
          </a:p>
          <a:p>
            <a:r>
              <a:rPr lang="en-US" sz="2400"/>
              <a:t>- 2018 data shows variations in pH, EC, TDS, hardness, indicating health and productivity risks.</a:t>
            </a:r>
          </a:p>
          <a:p>
            <a:r>
              <a:rPr lang="en-US" sz="2400"/>
              <a:t>- Need for efficient, accurate, and scalable AI-driven system to predict water quality.</a:t>
            </a:r>
          </a:p>
          <a:p>
            <a:endParaRPr lang="en-US" sz="2400"/>
          </a:p>
          <a:p>
            <a:r>
              <a:rPr lang="en-US" sz="2800" b="1"/>
              <a:t>Project Goal</a:t>
            </a:r>
          </a:p>
          <a:p>
            <a:r>
              <a:rPr lang="en-US" sz="2400"/>
              <a:t>- Develop ML model to classify groundwater as safe/unsafe, improving prediction accuracy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3674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5380-66C6-7AEC-4779-C9558852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D1A69-460B-ABF7-1434-C4923DAACCED}"/>
              </a:ext>
            </a:extLst>
          </p:cNvPr>
          <p:cNvSpPr txBox="1"/>
          <p:nvPr/>
        </p:nvSpPr>
        <p:spPr>
          <a:xfrm>
            <a:off x="1337187" y="294967"/>
            <a:ext cx="2557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MOTIVATION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A0F2D-CDC2-5835-9214-7CB1448827FA}"/>
              </a:ext>
            </a:extLst>
          </p:cNvPr>
          <p:cNvSpPr txBox="1"/>
          <p:nvPr/>
        </p:nvSpPr>
        <p:spPr>
          <a:xfrm>
            <a:off x="1258529" y="1157608"/>
            <a:ext cx="64499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buClr>
                <a:schemeClr val="dk2"/>
              </a:buClr>
              <a:buSzPts val="1800"/>
              <a:buChar char="●"/>
            </a:pPr>
            <a:r>
              <a:rPr lang="en-US" sz="2400">
                <a:solidFill>
                  <a:schemeClr val="dk2"/>
                </a:solidFill>
              </a:rPr>
              <a:t> Importance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Ensures safe drinking water (health risks: fluoride, arsenic, nitrate)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Protects agriculture productivity &amp; soil health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Addresses India's water scarcity &amp; stress</a:t>
            </a:r>
          </a:p>
          <a:p>
            <a:pPr lvl="0">
              <a:buClr>
                <a:schemeClr val="dk1"/>
              </a:buClr>
              <a:buSzPts val="1100"/>
            </a:pPr>
            <a:endParaRPr lang="en-US" sz="2400">
              <a:solidFill>
                <a:schemeClr val="dk2"/>
              </a:solidFill>
            </a:endParaRPr>
          </a:p>
          <a:p>
            <a:pPr marL="457200" lvl="0" indent="-342900">
              <a:buClr>
                <a:schemeClr val="dk2"/>
              </a:buClr>
              <a:buSzPts val="1800"/>
              <a:buChar char="●"/>
            </a:pPr>
            <a:r>
              <a:rPr lang="en-US" sz="2400">
                <a:solidFill>
                  <a:schemeClr val="dk2"/>
                </a:solidFill>
              </a:rPr>
              <a:t>Practical Applications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Precision irrigation &amp; crop selection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Early contamination alerts for farmers</a:t>
            </a:r>
          </a:p>
          <a:p>
            <a:pPr lvl="0"/>
            <a:r>
              <a:rPr lang="en-US" sz="2400">
                <a:solidFill>
                  <a:schemeClr val="dk2"/>
                </a:solidFill>
              </a:rPr>
              <a:t>- Informed policy &amp; remediation efforts</a:t>
            </a:r>
          </a:p>
          <a:p>
            <a:pPr lvl="0"/>
            <a:endParaRPr lang="en-US" sz="2400">
              <a:solidFill>
                <a:schemeClr val="dk2"/>
              </a:solidFill>
            </a:endParaRPr>
          </a:p>
          <a:p>
            <a:pPr marL="457200" lvl="0" indent="-342900">
              <a:buClr>
                <a:schemeClr val="dk2"/>
              </a:buClr>
              <a:buSzPts val="1800"/>
              <a:buChar char="●"/>
            </a:pPr>
            <a:r>
              <a:rPr lang="en-US" sz="2400">
                <a:solidFill>
                  <a:schemeClr val="dk2"/>
                </a:solidFill>
              </a:rPr>
              <a:t>Relevance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Supports Clean Water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2"/>
                </a:solidFill>
              </a:rPr>
              <a:t>- water management, </a:t>
            </a:r>
            <a:r>
              <a:rPr lang="en-US" sz="2400" err="1">
                <a:solidFill>
                  <a:schemeClr val="dk2"/>
                </a:solidFill>
              </a:rPr>
              <a:t>agri</a:t>
            </a:r>
            <a:r>
              <a:rPr lang="en-US" sz="2400">
                <a:solidFill>
                  <a:schemeClr val="dk2"/>
                </a:solidFill>
              </a:rPr>
              <a:t>-tech,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24877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79810D-27B1-B4ED-3A02-2D5D4DAF6235}"/>
              </a:ext>
            </a:extLst>
          </p:cNvPr>
          <p:cNvSpPr txBox="1"/>
          <p:nvPr/>
        </p:nvSpPr>
        <p:spPr>
          <a:xfrm>
            <a:off x="1110181" y="393506"/>
            <a:ext cx="99806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OBJECTIVES</a:t>
            </a:r>
          </a:p>
          <a:p>
            <a:endParaRPr lang="en-US" sz="3600" b="1"/>
          </a:p>
          <a:p>
            <a:r>
              <a:rPr lang="en-US" sz="2400" b="1"/>
              <a:t>01.  </a:t>
            </a:r>
            <a:r>
              <a:rPr lang="en-US" sz="2400"/>
              <a:t>To analyze the 2018 post-monsoon groundwater quality dataset and understand variations in key physicochemical parameters such as pH, EC, TDS, and hardness.</a:t>
            </a:r>
          </a:p>
          <a:p>
            <a:endParaRPr lang="en-US" sz="2400"/>
          </a:p>
          <a:p>
            <a:r>
              <a:rPr lang="en-US" sz="2400" b="1"/>
              <a:t>02.  </a:t>
            </a:r>
            <a:r>
              <a:rPr lang="en-US" sz="2400"/>
              <a:t>To develop and apply machine learning models (Random Forest, Decision Tree, etc.) for predicting and classifying groundwater quality.</a:t>
            </a:r>
          </a:p>
          <a:p>
            <a:endParaRPr lang="en-US" sz="2400"/>
          </a:p>
          <a:p>
            <a:r>
              <a:rPr lang="en-US" sz="2400" b="1"/>
              <a:t>03.  </a:t>
            </a:r>
            <a:r>
              <a:rPr lang="en-US" sz="2400"/>
              <a:t>To evaluate and compare model performance to identify the most accurate approach for groundwater quality prediction.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54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9AFE3-63E0-D7E9-AB36-5765FFB27AC6}"/>
              </a:ext>
            </a:extLst>
          </p:cNvPr>
          <p:cNvSpPr txBox="1"/>
          <p:nvPr/>
        </p:nvSpPr>
        <p:spPr>
          <a:xfrm>
            <a:off x="1229032" y="255639"/>
            <a:ext cx="4046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DATASET OVERVIEW</a:t>
            </a:r>
            <a:endParaRPr lang="en-IN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21D8D-6CFC-4FFB-75E4-9628CB1E9B69}"/>
              </a:ext>
            </a:extLst>
          </p:cNvPr>
          <p:cNvSpPr txBox="1"/>
          <p:nvPr/>
        </p:nvSpPr>
        <p:spPr>
          <a:xfrm>
            <a:off x="1081548" y="1494503"/>
            <a:ext cx="105598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/>
              <a:t>Dataset source: Ground water quality 2018 post monsoon data from </a:t>
            </a:r>
            <a:r>
              <a:rPr lang="en-IN" sz="2400" err="1"/>
              <a:t>kaggle</a:t>
            </a:r>
            <a:endParaRPr lang="en-IN" sz="2400"/>
          </a:p>
          <a:p>
            <a:pPr marL="285750" indent="-285750">
              <a:buFontTx/>
              <a:buChar char="-"/>
            </a:pPr>
            <a:endParaRPr lang="en-IN" sz="2400"/>
          </a:p>
          <a:p>
            <a:pPr marL="285750" indent="-285750">
              <a:buFontTx/>
              <a:buChar char="-"/>
            </a:pPr>
            <a:r>
              <a:rPr lang="en-IN" sz="2400"/>
              <a:t>Number of records and features:  300 samples, 9 features (pH, EC, TDS, Hardness, Alkalinity, Chloride, Sulphate, Nitrate, Fluoride)</a:t>
            </a:r>
          </a:p>
          <a:p>
            <a:pPr marL="285750" indent="-285750">
              <a:buFontTx/>
              <a:buChar char="-"/>
            </a:pPr>
            <a:endParaRPr lang="en-IN" sz="2400"/>
          </a:p>
          <a:p>
            <a:pPr marL="285750" indent="-285750">
              <a:buFontTx/>
              <a:buChar char="-"/>
            </a:pPr>
            <a:r>
              <a:rPr lang="en-IN" sz="2400"/>
              <a:t>Types of features:  Numerical (physicochemical parameters)</a:t>
            </a:r>
          </a:p>
          <a:p>
            <a:pPr marL="285750" indent="-285750">
              <a:buFontTx/>
              <a:buChar char="-"/>
            </a:pPr>
            <a:endParaRPr lang="en-IN" sz="2400"/>
          </a:p>
          <a:p>
            <a:r>
              <a:rPr lang="en-IN" sz="2400"/>
              <a:t>- Preprocessing steps: Data loading, feature selection,  normalization, train-test split</a:t>
            </a:r>
          </a:p>
        </p:txBody>
      </p:sp>
    </p:spTree>
    <p:extLst>
      <p:ext uri="{BB962C8B-B14F-4D97-AF65-F5344CB8AC3E}">
        <p14:creationId xmlns:p14="http://schemas.microsoft.com/office/powerpoint/2010/main" val="279790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2489E-0311-250C-30ED-C115CF1EF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419192"/>
              </p:ext>
            </p:extLst>
          </p:nvPr>
        </p:nvGraphicFramePr>
        <p:xfrm>
          <a:off x="1715729" y="0"/>
          <a:ext cx="8617975" cy="66190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46081">
                  <a:extLst>
                    <a:ext uri="{9D8B030D-6E8A-4147-A177-3AD203B41FA5}">
                      <a16:colId xmlns:a16="http://schemas.microsoft.com/office/drawing/2014/main" val="3268717364"/>
                    </a:ext>
                  </a:extLst>
                </a:gridCol>
                <a:gridCol w="2395412">
                  <a:extLst>
                    <a:ext uri="{9D8B030D-6E8A-4147-A177-3AD203B41FA5}">
                      <a16:colId xmlns:a16="http://schemas.microsoft.com/office/drawing/2014/main" val="2415605099"/>
                    </a:ext>
                  </a:extLst>
                </a:gridCol>
                <a:gridCol w="3276482">
                  <a:extLst>
                    <a:ext uri="{9D8B030D-6E8A-4147-A177-3AD203B41FA5}">
                      <a16:colId xmlns:a16="http://schemas.microsoft.com/office/drawing/2014/main" val="4111937380"/>
                    </a:ext>
                  </a:extLst>
                </a:gridCol>
              </a:tblGrid>
              <a:tr h="413042"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Feature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Type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Source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04180"/>
                  </a:ext>
                </a:extLst>
              </a:tr>
              <a:tr h="413042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pH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57472"/>
                  </a:ext>
                </a:extLst>
              </a:tr>
              <a:tr h="946913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Electrical Conductivity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484985"/>
                  </a:ext>
                </a:extLst>
              </a:tr>
              <a:tr h="946913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Total dissolved solids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94503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Total hardness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527812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Alkalinity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93836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Chloride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656182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Sulphate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865184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Nitrate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934256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Fluoride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360443"/>
                  </a:ext>
                </a:extLst>
              </a:tr>
              <a:tr h="413042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Groundwater Quality Index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(Target)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Computed/Derived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6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5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ED65E-5062-E77A-7A69-C896B3AF3774}"/>
              </a:ext>
            </a:extLst>
          </p:cNvPr>
          <p:cNvSpPr txBox="1"/>
          <p:nvPr/>
        </p:nvSpPr>
        <p:spPr>
          <a:xfrm>
            <a:off x="1229032" y="0"/>
            <a:ext cx="2308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APPROACH</a:t>
            </a:r>
            <a:endParaRPr lang="en-IN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FA78E-7931-797F-FA0D-096C07D12560}"/>
              </a:ext>
            </a:extLst>
          </p:cNvPr>
          <p:cNvSpPr txBox="1"/>
          <p:nvPr/>
        </p:nvSpPr>
        <p:spPr>
          <a:xfrm>
            <a:off x="1032387" y="646331"/>
            <a:ext cx="5476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• </a:t>
            </a:r>
            <a:r>
              <a:rPr lang="en-IN" sz="2400" b="1"/>
              <a:t>Data Preprocessing</a:t>
            </a:r>
          </a:p>
          <a:p>
            <a:r>
              <a:rPr lang="en-IN" sz="2400"/>
              <a:t>Upload CSV/Excel dataset in Google </a:t>
            </a:r>
            <a:r>
              <a:rPr lang="en-IN" sz="2400" err="1"/>
              <a:t>Colab</a:t>
            </a:r>
            <a:r>
              <a:rPr lang="en-IN" sz="2400"/>
              <a:t> </a:t>
            </a:r>
          </a:p>
          <a:p>
            <a:r>
              <a:rPr lang="en-IN" sz="2400"/>
              <a:t>Feature selection (pH, EC, TDS, etc.) </a:t>
            </a:r>
          </a:p>
          <a:p>
            <a:r>
              <a:rPr lang="en-IN" sz="2400"/>
              <a:t>Normalize data using </a:t>
            </a:r>
            <a:r>
              <a:rPr lang="en-IN" sz="2400" err="1"/>
              <a:t>MinMaxScaler</a:t>
            </a:r>
            <a:r>
              <a:rPr lang="en-IN" sz="2400"/>
              <a:t> </a:t>
            </a:r>
          </a:p>
          <a:p>
            <a:r>
              <a:rPr lang="en-IN" sz="2400"/>
              <a:t>Train-test split (80:20) </a:t>
            </a:r>
          </a:p>
          <a:p>
            <a:endParaRPr lang="en-IN" sz="2400"/>
          </a:p>
          <a:p>
            <a:r>
              <a:rPr lang="en-IN" sz="2400" b="1"/>
              <a:t>• Exploratory Data Analysis</a:t>
            </a:r>
          </a:p>
          <a:p>
            <a:r>
              <a:rPr lang="en-IN" sz="2400"/>
              <a:t>Water quality distribution </a:t>
            </a:r>
          </a:p>
          <a:p>
            <a:r>
              <a:rPr lang="en-IN" sz="2400"/>
              <a:t>Correlation heatmap </a:t>
            </a:r>
          </a:p>
          <a:p>
            <a:r>
              <a:rPr lang="en-IN" sz="2400"/>
              <a:t>Identify key influencing parameters </a:t>
            </a:r>
            <a:br>
              <a:rPr lang="en-IN" sz="2400"/>
            </a:br>
            <a:endParaRPr lang="en-IN" sz="2400"/>
          </a:p>
          <a:p>
            <a:r>
              <a:rPr lang="en-IN" sz="2400" b="1"/>
              <a:t>• Model Selection</a:t>
            </a:r>
          </a:p>
          <a:p>
            <a:r>
              <a:rPr lang="en-IN" sz="2400"/>
              <a:t>Random Forest </a:t>
            </a:r>
          </a:p>
          <a:p>
            <a:r>
              <a:rPr lang="en-IN" sz="2400"/>
              <a:t>Decision Tree </a:t>
            </a:r>
          </a:p>
          <a:p>
            <a:r>
              <a:rPr lang="en-IN" sz="2400"/>
              <a:t>Logistic Regression </a:t>
            </a:r>
            <a:br>
              <a:rPr lang="en-IN" sz="2400"/>
            </a:br>
            <a:endParaRPr lang="en-I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C2610-D49C-7D71-5EB3-70D6F8BD26D6}"/>
              </a:ext>
            </a:extLst>
          </p:cNvPr>
          <p:cNvSpPr txBox="1"/>
          <p:nvPr/>
        </p:nvSpPr>
        <p:spPr>
          <a:xfrm>
            <a:off x="6876913" y="646331"/>
            <a:ext cx="408605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•</a:t>
            </a:r>
            <a:r>
              <a:rPr lang="en-IN" sz="2400" b="1"/>
              <a:t> Model Training &amp; Validation</a:t>
            </a:r>
          </a:p>
          <a:p>
            <a:r>
              <a:rPr lang="en-IN" sz="2400"/>
              <a:t>Train models on training data </a:t>
            </a:r>
          </a:p>
          <a:p>
            <a:r>
              <a:rPr lang="en-IN" sz="2400"/>
              <a:t>Test on unseen data </a:t>
            </a:r>
          </a:p>
          <a:p>
            <a:r>
              <a:rPr lang="en-IN" sz="2400"/>
              <a:t>Select best-performing model </a:t>
            </a:r>
          </a:p>
          <a:p>
            <a:endParaRPr lang="en-IN" sz="2400"/>
          </a:p>
          <a:p>
            <a:r>
              <a:rPr lang="en-IN" sz="2400" b="1"/>
              <a:t>• Evaluation Metrics</a:t>
            </a:r>
          </a:p>
          <a:p>
            <a:r>
              <a:rPr lang="en-IN" sz="2400"/>
              <a:t>Accuracy </a:t>
            </a:r>
          </a:p>
          <a:p>
            <a:r>
              <a:rPr lang="en-IN" sz="2400"/>
              <a:t>F1-score </a:t>
            </a:r>
          </a:p>
          <a:p>
            <a:r>
              <a:rPr lang="en-IN" sz="2400"/>
              <a:t>Confusion Matrix</a:t>
            </a:r>
            <a:endParaRPr lang="en-IN" sz="2400" b="1"/>
          </a:p>
          <a:p>
            <a:endParaRPr lang="en-IN" sz="2400"/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3462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3278B8-8293-1336-85E2-97D5D374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59" y="0"/>
            <a:ext cx="5555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6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AA11DCD-A6E0-DACB-28AD-00C1CD357EDE}"/>
              </a:ext>
            </a:extLst>
          </p:cNvPr>
          <p:cNvSpPr txBox="1"/>
          <p:nvPr/>
        </p:nvSpPr>
        <p:spPr>
          <a:xfrm>
            <a:off x="1209368" y="540774"/>
            <a:ext cx="366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68364C5-9282-EF6F-A6F1-28A0111EA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436139"/>
              </p:ext>
            </p:extLst>
          </p:nvPr>
        </p:nvGraphicFramePr>
        <p:xfrm>
          <a:off x="1371600" y="4803140"/>
          <a:ext cx="9601200" cy="36576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3077264938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352979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95811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F4C1708-3AFB-A20E-5079-82F6CA8FE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42106"/>
              </p:ext>
            </p:extLst>
          </p:nvPr>
        </p:nvGraphicFramePr>
        <p:xfrm>
          <a:off x="1873045" y="1784743"/>
          <a:ext cx="9601200" cy="36576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118059424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788127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0220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0CDFE90-85C3-8729-2DCF-E678ECB48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56869"/>
              </p:ext>
            </p:extLst>
          </p:nvPr>
        </p:nvGraphicFramePr>
        <p:xfrm>
          <a:off x="835742" y="0"/>
          <a:ext cx="11139948" cy="69042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569974">
                  <a:extLst>
                    <a:ext uri="{9D8B030D-6E8A-4147-A177-3AD203B41FA5}">
                      <a16:colId xmlns:a16="http://schemas.microsoft.com/office/drawing/2014/main" val="140301163"/>
                    </a:ext>
                  </a:extLst>
                </a:gridCol>
                <a:gridCol w="5569974">
                  <a:extLst>
                    <a:ext uri="{9D8B030D-6E8A-4147-A177-3AD203B41FA5}">
                      <a16:colId xmlns:a16="http://schemas.microsoft.com/office/drawing/2014/main" val="3251899627"/>
                    </a:ext>
                  </a:extLst>
                </a:gridCol>
              </a:tblGrid>
              <a:tr h="594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 / Technology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Role in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81990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Python 3.x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programming language used to implement the entire ML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994687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pandas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data loading, manipulation, and preprocessing of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162627"/>
                  </a:ext>
                </a:extLst>
              </a:tr>
              <a:tr h="594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NumPy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Performs numerical computations and array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901557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matplotlib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data visualization like bar charts and heatmaps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207944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scikit-learn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Machine learning library used for model building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256590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Random Forest Classifier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Ensemble algorithm that improves accuracy using multiple decision trees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227636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Tree Classifier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Tree-based model that classifies data using decision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14520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Logistic Regression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Statistical model used for binary classification (Safe/Unsafe)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268502"/>
                  </a:ext>
                </a:extLst>
              </a:tr>
              <a:tr h="594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train_test_split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Splits dataset into training and testing 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315046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Confusion Matrix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Evaluates classification performance by comparing actual vs predicted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4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53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93C93-855D-5F6E-B910-BC6908ED06C8}"/>
              </a:ext>
            </a:extLst>
          </p:cNvPr>
          <p:cNvSpPr txBox="1"/>
          <p:nvPr/>
        </p:nvSpPr>
        <p:spPr>
          <a:xfrm>
            <a:off x="1759974" y="1730477"/>
            <a:ext cx="73446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# --- 1. Upload File in </a:t>
            </a:r>
            <a:r>
              <a:rPr lang="en-IN" sz="1400" err="1"/>
              <a:t>Colab</a:t>
            </a:r>
            <a:r>
              <a:rPr lang="en-IN" sz="1400"/>
              <a:t> ---</a:t>
            </a:r>
          </a:p>
          <a:p>
            <a:r>
              <a:rPr lang="en-IN" sz="1400"/>
              <a:t>from </a:t>
            </a:r>
            <a:r>
              <a:rPr lang="en-IN" sz="1400" err="1"/>
              <a:t>google.colab</a:t>
            </a:r>
            <a:r>
              <a:rPr lang="en-IN" sz="1400"/>
              <a:t> import files</a:t>
            </a:r>
          </a:p>
          <a:p>
            <a:r>
              <a:rPr lang="en-IN" sz="1400"/>
              <a:t>uploaded = </a:t>
            </a:r>
            <a:r>
              <a:rPr lang="en-IN" sz="1400" err="1"/>
              <a:t>files.upload</a:t>
            </a:r>
            <a:r>
              <a:rPr lang="en-IN" sz="1400"/>
              <a:t>()</a:t>
            </a:r>
          </a:p>
          <a:p>
            <a:endParaRPr lang="en-IN" sz="1400"/>
          </a:p>
          <a:p>
            <a:r>
              <a:rPr lang="en-IN" sz="1400"/>
              <a:t># Get uploaded file name</a:t>
            </a:r>
          </a:p>
          <a:p>
            <a:r>
              <a:rPr lang="en-IN" sz="1400" err="1"/>
              <a:t>file_name</a:t>
            </a:r>
            <a:r>
              <a:rPr lang="en-IN" sz="1400"/>
              <a:t> = list(</a:t>
            </a:r>
            <a:r>
              <a:rPr lang="en-IN" sz="1400" err="1"/>
              <a:t>uploaded.keys</a:t>
            </a:r>
            <a:r>
              <a:rPr lang="en-IN" sz="1400"/>
              <a:t>())[0]</a:t>
            </a:r>
            <a:br>
              <a:rPr lang="en-IN" sz="1400"/>
            </a:br>
            <a:endParaRPr lang="en-IN" sz="1400"/>
          </a:p>
          <a:p>
            <a:r>
              <a:rPr lang="en-IN" sz="1400"/>
              <a:t># --- 2. Import Libraries ---</a:t>
            </a:r>
          </a:p>
          <a:p>
            <a:r>
              <a:rPr lang="en-IN" sz="1400"/>
              <a:t>import </a:t>
            </a:r>
            <a:r>
              <a:rPr lang="en-IN" sz="1400" err="1"/>
              <a:t>numpy</a:t>
            </a:r>
            <a:r>
              <a:rPr lang="en-IN" sz="1400"/>
              <a:t> as np</a:t>
            </a:r>
          </a:p>
          <a:p>
            <a:r>
              <a:rPr lang="en-IN" sz="1400"/>
              <a:t>import pandas as pd</a:t>
            </a:r>
          </a:p>
          <a:p>
            <a:r>
              <a:rPr lang="en-IN" sz="1400"/>
              <a:t>import </a:t>
            </a:r>
            <a:r>
              <a:rPr lang="en-IN" sz="1400" err="1"/>
              <a:t>matplotlib.pyplot</a:t>
            </a:r>
            <a:r>
              <a:rPr lang="en-IN" sz="1400"/>
              <a:t> as </a:t>
            </a:r>
            <a:r>
              <a:rPr lang="en-IN" sz="1400" err="1"/>
              <a:t>plt</a:t>
            </a:r>
            <a:endParaRPr lang="en-IN" sz="1400"/>
          </a:p>
          <a:p>
            <a:endParaRPr lang="en-IN" sz="1400"/>
          </a:p>
          <a:p>
            <a:r>
              <a:rPr lang="en-IN" sz="1400"/>
              <a:t>from </a:t>
            </a:r>
            <a:r>
              <a:rPr lang="en-IN" sz="1400" err="1"/>
              <a:t>sklearn.ensemble</a:t>
            </a:r>
            <a:r>
              <a:rPr lang="en-IN" sz="1400"/>
              <a:t> import </a:t>
            </a:r>
            <a:r>
              <a:rPr lang="en-IN" sz="1400" err="1"/>
              <a:t>RandomForestClassifier</a:t>
            </a:r>
            <a:endParaRPr lang="en-IN" sz="1400"/>
          </a:p>
          <a:p>
            <a:r>
              <a:rPr lang="en-IN" sz="1400"/>
              <a:t>from </a:t>
            </a:r>
            <a:r>
              <a:rPr lang="en-IN" sz="1400" err="1"/>
              <a:t>sklearn.tree</a:t>
            </a:r>
            <a:r>
              <a:rPr lang="en-IN" sz="1400"/>
              <a:t> import </a:t>
            </a:r>
            <a:r>
              <a:rPr lang="en-IN" sz="1400" err="1"/>
              <a:t>DecisionTreeClassifier</a:t>
            </a:r>
            <a:endParaRPr lang="en-IN" sz="1400"/>
          </a:p>
          <a:p>
            <a:r>
              <a:rPr lang="en-IN" sz="1400"/>
              <a:t>from </a:t>
            </a:r>
            <a:r>
              <a:rPr lang="en-IN" sz="1400" err="1"/>
              <a:t>sklearn.linear_model</a:t>
            </a:r>
            <a:r>
              <a:rPr lang="en-IN" sz="1400"/>
              <a:t> import </a:t>
            </a:r>
            <a:r>
              <a:rPr lang="en-IN" sz="1400" err="1"/>
              <a:t>LogisticRegression</a:t>
            </a:r>
            <a:endParaRPr lang="en-IN" sz="1400"/>
          </a:p>
          <a:p>
            <a:r>
              <a:rPr lang="en-IN" sz="1400"/>
              <a:t>from </a:t>
            </a:r>
            <a:r>
              <a:rPr lang="en-IN" sz="1400" err="1"/>
              <a:t>sklearn.preprocessing</a:t>
            </a:r>
            <a:r>
              <a:rPr lang="en-IN" sz="1400"/>
              <a:t> import </a:t>
            </a:r>
            <a:r>
              <a:rPr lang="en-IN" sz="1400" err="1"/>
              <a:t>MinMaxScaler</a:t>
            </a:r>
            <a:endParaRPr lang="en-IN" sz="1400"/>
          </a:p>
          <a:p>
            <a:r>
              <a:rPr lang="en-IN" sz="1400"/>
              <a:t>from </a:t>
            </a:r>
            <a:r>
              <a:rPr lang="en-IN" sz="1400" err="1"/>
              <a:t>sklearn.model_selection</a:t>
            </a:r>
            <a:r>
              <a:rPr lang="en-IN" sz="1400"/>
              <a:t> import </a:t>
            </a:r>
            <a:r>
              <a:rPr lang="en-IN" sz="1400" err="1"/>
              <a:t>train_test_split</a:t>
            </a:r>
            <a:endParaRPr lang="en-IN" sz="1400"/>
          </a:p>
          <a:p>
            <a:r>
              <a:rPr lang="en-IN" sz="1400"/>
              <a:t>from </a:t>
            </a:r>
            <a:r>
              <a:rPr lang="en-IN" sz="1400" err="1"/>
              <a:t>sklearn.metrics</a:t>
            </a:r>
            <a:r>
              <a:rPr lang="en-IN" sz="1400"/>
              <a:t> import </a:t>
            </a:r>
            <a:r>
              <a:rPr lang="en-IN" sz="1400" err="1"/>
              <a:t>accuracy_score</a:t>
            </a:r>
            <a:r>
              <a:rPr lang="en-IN" sz="1400"/>
              <a:t>, </a:t>
            </a:r>
            <a:r>
              <a:rPr lang="en-IN" sz="1400" err="1"/>
              <a:t>confusion_matrix</a:t>
            </a:r>
            <a:r>
              <a:rPr lang="en-IN" sz="1400"/>
              <a:t>, </a:t>
            </a:r>
            <a:r>
              <a:rPr lang="en-IN" sz="1400" err="1"/>
              <a:t>classification_report</a:t>
            </a:r>
            <a:endParaRPr lang="en-IN" sz="1400"/>
          </a:p>
          <a:p>
            <a:br>
              <a:rPr lang="en-IN"/>
            </a:b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DDFB7-99BC-4204-2C01-1EB1B6B63C7E}"/>
              </a:ext>
            </a:extLst>
          </p:cNvPr>
          <p:cNvSpPr txBox="1"/>
          <p:nvPr/>
        </p:nvSpPr>
        <p:spPr>
          <a:xfrm>
            <a:off x="1759974" y="481781"/>
            <a:ext cx="402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PYTHON CODE</a:t>
            </a:r>
          </a:p>
        </p:txBody>
      </p:sp>
    </p:spTree>
    <p:extLst>
      <p:ext uri="{BB962C8B-B14F-4D97-AF65-F5344CB8AC3E}">
        <p14:creationId xmlns:p14="http://schemas.microsoft.com/office/powerpoint/2010/main" val="229546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773B7D-D9AC-F8C8-6E7A-8C013B260752}"/>
              </a:ext>
            </a:extLst>
          </p:cNvPr>
          <p:cNvSpPr txBox="1"/>
          <p:nvPr/>
        </p:nvSpPr>
        <p:spPr>
          <a:xfrm>
            <a:off x="1061885" y="197346"/>
            <a:ext cx="547656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/>
          </a:p>
          <a:p>
            <a:r>
              <a:rPr lang="en-IN" sz="1400"/>
              <a:t>import warnings</a:t>
            </a:r>
          </a:p>
          <a:p>
            <a:r>
              <a:rPr lang="en-IN" sz="1400" err="1"/>
              <a:t>warnings.filterwarnings</a:t>
            </a:r>
            <a:r>
              <a:rPr lang="en-IN" sz="1400"/>
              <a:t>('ignore')</a:t>
            </a:r>
          </a:p>
          <a:p>
            <a:endParaRPr lang="en-IN" sz="1400"/>
          </a:p>
          <a:p>
            <a:r>
              <a:rPr lang="en-IN" sz="1400"/>
              <a:t># --- 3. Load Dataset ---</a:t>
            </a:r>
          </a:p>
          <a:p>
            <a:r>
              <a:rPr lang="en-IN" sz="1400"/>
              <a:t>if </a:t>
            </a:r>
            <a:r>
              <a:rPr lang="en-IN" sz="1400" err="1"/>
              <a:t>file_name.endswith</a:t>
            </a:r>
            <a:r>
              <a:rPr lang="en-IN" sz="1400"/>
              <a:t>('.csv'):</a:t>
            </a:r>
          </a:p>
          <a:p>
            <a:r>
              <a:rPr lang="en-IN" sz="1400"/>
              <a:t>    </a:t>
            </a:r>
            <a:r>
              <a:rPr lang="en-IN" sz="1400" err="1"/>
              <a:t>df</a:t>
            </a:r>
            <a:r>
              <a:rPr lang="en-IN" sz="1400"/>
              <a:t> = </a:t>
            </a:r>
            <a:r>
              <a:rPr lang="en-IN" sz="1400" err="1"/>
              <a:t>pd.read_csv</a:t>
            </a:r>
            <a:r>
              <a:rPr lang="en-IN" sz="1400"/>
              <a:t>(</a:t>
            </a:r>
            <a:r>
              <a:rPr lang="en-IN" sz="1400" err="1"/>
              <a:t>file_name</a:t>
            </a:r>
            <a:r>
              <a:rPr lang="en-IN" sz="1400"/>
              <a:t>)</a:t>
            </a:r>
          </a:p>
          <a:p>
            <a:r>
              <a:rPr lang="en-IN" sz="1400"/>
              <a:t>else:</a:t>
            </a:r>
          </a:p>
          <a:p>
            <a:r>
              <a:rPr lang="en-IN" sz="1400"/>
              <a:t>    </a:t>
            </a:r>
            <a:r>
              <a:rPr lang="en-IN" sz="1400" err="1"/>
              <a:t>df</a:t>
            </a:r>
            <a:r>
              <a:rPr lang="en-IN" sz="1400"/>
              <a:t> = </a:t>
            </a:r>
            <a:r>
              <a:rPr lang="en-IN" sz="1400" err="1"/>
              <a:t>pd.read_excel</a:t>
            </a:r>
            <a:r>
              <a:rPr lang="en-IN" sz="1400"/>
              <a:t>(</a:t>
            </a:r>
            <a:r>
              <a:rPr lang="en-IN" sz="1400" err="1"/>
              <a:t>file_name</a:t>
            </a:r>
            <a:r>
              <a:rPr lang="en-IN" sz="1400"/>
              <a:t>)</a:t>
            </a:r>
            <a:br>
              <a:rPr lang="en-IN" sz="1400"/>
            </a:br>
            <a:endParaRPr lang="en-IN" sz="1400"/>
          </a:p>
          <a:p>
            <a:r>
              <a:rPr lang="en-IN" sz="1400"/>
              <a:t>print("Dataset Loaded:\n", </a:t>
            </a:r>
            <a:r>
              <a:rPr lang="en-IN" sz="1400" err="1"/>
              <a:t>df.head</a:t>
            </a:r>
            <a:r>
              <a:rPr lang="en-IN" sz="1400"/>
              <a:t>())</a:t>
            </a:r>
          </a:p>
          <a:p>
            <a:endParaRPr lang="en-IN" sz="1400"/>
          </a:p>
          <a:p>
            <a:r>
              <a:rPr lang="en-IN" sz="1400"/>
              <a:t># --- 4. Feature Selection ---</a:t>
            </a:r>
          </a:p>
          <a:p>
            <a:r>
              <a:rPr lang="en-IN" sz="1400"/>
              <a:t>features = ['pH', 'EC', 'TDS', 'Alkalinity', 'Hardness', 'Cl', 'F', 'NO3', 'SO4']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X = </a:t>
            </a:r>
            <a:r>
              <a:rPr lang="en-IN" sz="1400" err="1"/>
              <a:t>df</a:t>
            </a:r>
            <a:r>
              <a:rPr lang="en-IN" sz="1400"/>
              <a:t>[features]</a:t>
            </a:r>
          </a:p>
          <a:p>
            <a:r>
              <a:rPr lang="en-IN" sz="1400"/>
              <a:t>y = </a:t>
            </a:r>
            <a:r>
              <a:rPr lang="en-IN" sz="1400" err="1"/>
              <a:t>df</a:t>
            </a:r>
            <a:r>
              <a:rPr lang="en-IN" sz="1400"/>
              <a:t>['</a:t>
            </a:r>
            <a:r>
              <a:rPr lang="en-IN" sz="1400" err="1"/>
              <a:t>Water_Quality</a:t>
            </a:r>
            <a:r>
              <a:rPr lang="en-IN" sz="1400"/>
              <a:t>']</a:t>
            </a:r>
          </a:p>
          <a:p>
            <a:br>
              <a:rPr lang="en-IN"/>
            </a:br>
            <a:endParaRPr lang="en-IN" sz="1400"/>
          </a:p>
          <a:p>
            <a:r>
              <a:rPr lang="en-IN" sz="1400"/>
              <a:t># --- 5. Preprocessing ---</a:t>
            </a:r>
          </a:p>
          <a:p>
            <a:r>
              <a:rPr lang="en-IN" sz="1400"/>
              <a:t>scaler = </a:t>
            </a:r>
            <a:r>
              <a:rPr lang="en-IN" sz="1400" err="1"/>
              <a:t>MinMaxScaler</a:t>
            </a:r>
            <a:r>
              <a:rPr lang="en-IN" sz="1400"/>
              <a:t>()</a:t>
            </a:r>
          </a:p>
          <a:p>
            <a:r>
              <a:rPr lang="en-IN" sz="1400" err="1"/>
              <a:t>X_scaled</a:t>
            </a:r>
            <a:r>
              <a:rPr lang="en-IN" sz="1400"/>
              <a:t> = </a:t>
            </a:r>
            <a:r>
              <a:rPr lang="en-IN" sz="1400" err="1"/>
              <a:t>scaler.fit_transform</a:t>
            </a:r>
            <a:r>
              <a:rPr lang="en-IN" sz="1400"/>
              <a:t>(X)</a:t>
            </a:r>
            <a:br>
              <a:rPr lang="en-IN" sz="1400"/>
            </a:br>
            <a:endParaRPr lang="en-IN" sz="1400"/>
          </a:p>
          <a:p>
            <a:r>
              <a:rPr lang="en-IN" sz="1400"/>
              <a:t># --- 6. Train-Test Split ---</a:t>
            </a:r>
          </a:p>
          <a:p>
            <a:r>
              <a:rPr lang="en-IN" sz="1400" err="1"/>
              <a:t>X_train</a:t>
            </a:r>
            <a:r>
              <a:rPr lang="en-IN" sz="1400"/>
              <a:t>, </a:t>
            </a:r>
            <a:r>
              <a:rPr lang="en-IN" sz="1400" err="1"/>
              <a:t>X_test</a:t>
            </a:r>
            <a:r>
              <a:rPr lang="en-IN" sz="1400"/>
              <a:t>, </a:t>
            </a:r>
            <a:r>
              <a:rPr lang="en-IN" sz="1400" err="1"/>
              <a:t>y_train</a:t>
            </a:r>
            <a:r>
              <a:rPr lang="en-IN" sz="1400"/>
              <a:t>, </a:t>
            </a:r>
            <a:r>
              <a:rPr lang="en-IN" sz="1400" err="1"/>
              <a:t>y_test</a:t>
            </a:r>
            <a:r>
              <a:rPr lang="en-IN" sz="1400"/>
              <a:t> = </a:t>
            </a:r>
            <a:r>
              <a:rPr lang="en-IN" sz="1400" err="1"/>
              <a:t>train_test_split</a:t>
            </a:r>
            <a:r>
              <a:rPr lang="en-IN" sz="1400"/>
              <a:t>(</a:t>
            </a:r>
          </a:p>
          <a:p>
            <a:r>
              <a:rPr lang="en-IN" sz="1400"/>
              <a:t>    </a:t>
            </a:r>
            <a:r>
              <a:rPr lang="en-IN" sz="1400" err="1"/>
              <a:t>X_scaled</a:t>
            </a:r>
            <a:r>
              <a:rPr lang="en-IN" sz="1400"/>
              <a:t>, y, </a:t>
            </a:r>
            <a:r>
              <a:rPr lang="en-IN" sz="1400" err="1"/>
              <a:t>test_size</a:t>
            </a:r>
            <a:r>
              <a:rPr lang="en-IN" sz="1400"/>
              <a:t>=0.2, </a:t>
            </a:r>
            <a:r>
              <a:rPr lang="en-IN" sz="1400" err="1"/>
              <a:t>random_state</a:t>
            </a:r>
            <a:r>
              <a:rPr lang="en-IN" sz="1400"/>
              <a:t>=42</a:t>
            </a:r>
          </a:p>
          <a:p>
            <a:r>
              <a:rPr lang="en-IN" sz="1400"/>
              <a:t>)</a:t>
            </a:r>
            <a:br>
              <a:rPr lang="en-IN" sz="1400"/>
            </a:b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4FBAE-0160-0C0A-5AD0-ADCB0C3BA8E6}"/>
              </a:ext>
            </a:extLst>
          </p:cNvPr>
          <p:cNvSpPr txBox="1"/>
          <p:nvPr/>
        </p:nvSpPr>
        <p:spPr>
          <a:xfrm>
            <a:off x="7079225" y="-98323"/>
            <a:ext cx="3903407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/>
          </a:p>
          <a:p>
            <a:r>
              <a:rPr lang="en-IN" sz="1400"/>
              <a:t># --- 7. Model Training ---</a:t>
            </a:r>
          </a:p>
          <a:p>
            <a:r>
              <a:rPr lang="en-IN" sz="1400"/>
              <a:t>models = {</a:t>
            </a:r>
          </a:p>
          <a:p>
            <a:r>
              <a:rPr lang="en-IN" sz="1400"/>
              <a:t>    "Random Forest": </a:t>
            </a:r>
            <a:r>
              <a:rPr lang="en-IN" sz="1400" err="1"/>
              <a:t>RandomForestClassifier</a:t>
            </a:r>
            <a:r>
              <a:rPr lang="en-IN" sz="1400"/>
              <a:t>(),</a:t>
            </a:r>
          </a:p>
          <a:p>
            <a:r>
              <a:rPr lang="en-IN" sz="1400"/>
              <a:t>    "Decision Tree": </a:t>
            </a:r>
            <a:r>
              <a:rPr lang="en-IN" sz="1400" err="1"/>
              <a:t>DecisionTreeClassifier</a:t>
            </a:r>
            <a:r>
              <a:rPr lang="en-IN" sz="1400"/>
              <a:t>(),</a:t>
            </a:r>
          </a:p>
          <a:p>
            <a:r>
              <a:rPr lang="en-IN" sz="1400"/>
              <a:t>    "Logistic Regression": </a:t>
            </a:r>
            <a:r>
              <a:rPr lang="en-IN" sz="1400" err="1"/>
              <a:t>LogisticRegression</a:t>
            </a:r>
            <a:r>
              <a:rPr lang="en-IN" sz="1400"/>
              <a:t>()</a:t>
            </a:r>
          </a:p>
          <a:p>
            <a:r>
              <a:rPr lang="en-IN" sz="1400"/>
              <a:t>}</a:t>
            </a:r>
          </a:p>
          <a:p>
            <a:endParaRPr lang="en-IN" sz="1400"/>
          </a:p>
          <a:p>
            <a:r>
              <a:rPr lang="en-IN" sz="1400"/>
              <a:t>results = {}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for name, model in </a:t>
            </a:r>
            <a:r>
              <a:rPr lang="en-IN" sz="1400" err="1"/>
              <a:t>models.items</a:t>
            </a:r>
            <a:r>
              <a:rPr lang="en-IN" sz="1400"/>
              <a:t>():</a:t>
            </a:r>
          </a:p>
          <a:p>
            <a:r>
              <a:rPr lang="en-IN" sz="1400"/>
              <a:t>    </a:t>
            </a:r>
            <a:r>
              <a:rPr lang="en-IN" sz="1400" err="1"/>
              <a:t>model.fit</a:t>
            </a:r>
            <a:r>
              <a:rPr lang="en-IN" sz="1400"/>
              <a:t>(</a:t>
            </a:r>
            <a:r>
              <a:rPr lang="en-IN" sz="1400" err="1"/>
              <a:t>X_train</a:t>
            </a:r>
            <a:r>
              <a:rPr lang="en-IN" sz="1400"/>
              <a:t>, </a:t>
            </a:r>
            <a:r>
              <a:rPr lang="en-IN" sz="1400" err="1"/>
              <a:t>y_train</a:t>
            </a:r>
            <a:r>
              <a:rPr lang="en-IN" sz="1400"/>
              <a:t>)</a:t>
            </a:r>
          </a:p>
          <a:p>
            <a:r>
              <a:rPr lang="en-IN" sz="1400"/>
              <a:t>    </a:t>
            </a:r>
            <a:r>
              <a:rPr lang="en-IN" sz="1400" err="1"/>
              <a:t>y_pred</a:t>
            </a:r>
            <a:r>
              <a:rPr lang="en-IN" sz="1400"/>
              <a:t> = </a:t>
            </a:r>
            <a:r>
              <a:rPr lang="en-IN" sz="1400" err="1"/>
              <a:t>model.predict</a:t>
            </a:r>
            <a:r>
              <a:rPr lang="en-IN" sz="1400"/>
              <a:t>(</a:t>
            </a:r>
            <a:r>
              <a:rPr lang="en-IN" sz="1400" err="1"/>
              <a:t>X_test</a:t>
            </a:r>
            <a:r>
              <a:rPr lang="en-IN" sz="1400"/>
              <a:t>)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    </a:t>
            </a:r>
            <a:r>
              <a:rPr lang="en-IN" sz="1400" err="1"/>
              <a:t>acc</a:t>
            </a:r>
            <a:r>
              <a:rPr lang="en-IN" sz="1400"/>
              <a:t> = </a:t>
            </a:r>
            <a:r>
              <a:rPr lang="en-IN" sz="1400" err="1"/>
              <a:t>accuracy_score</a:t>
            </a:r>
            <a:r>
              <a:rPr lang="en-IN" sz="1400"/>
              <a:t>(</a:t>
            </a:r>
            <a:r>
              <a:rPr lang="en-IN" sz="1400" err="1"/>
              <a:t>y_test</a:t>
            </a:r>
            <a:r>
              <a:rPr lang="en-IN" sz="1400"/>
              <a:t>, </a:t>
            </a:r>
            <a:r>
              <a:rPr lang="en-IN" sz="1400" err="1"/>
              <a:t>y_pred</a:t>
            </a:r>
            <a:r>
              <a:rPr lang="en-IN" sz="1400"/>
              <a:t>)</a:t>
            </a:r>
          </a:p>
          <a:p>
            <a:r>
              <a:rPr lang="en-IN" sz="1400"/>
              <a:t>    results[name] = </a:t>
            </a:r>
            <a:r>
              <a:rPr lang="en-IN" sz="1400" err="1"/>
              <a:t>acc</a:t>
            </a:r>
            <a:endParaRPr lang="en-IN" sz="1400"/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    print(f"\n{name} Results:")</a:t>
            </a:r>
          </a:p>
          <a:p>
            <a:r>
              <a:rPr lang="en-IN" sz="1400"/>
              <a:t>    print("Accuracy:", </a:t>
            </a:r>
            <a:r>
              <a:rPr lang="en-IN" sz="1400" err="1"/>
              <a:t>acc</a:t>
            </a:r>
            <a:r>
              <a:rPr lang="en-IN" sz="1400"/>
              <a:t>)</a:t>
            </a:r>
          </a:p>
          <a:p>
            <a:r>
              <a:rPr lang="en-IN" sz="1400"/>
              <a:t>    print("Confusion Matrix:\n", </a:t>
            </a:r>
            <a:r>
              <a:rPr lang="en-IN" sz="1400" err="1"/>
              <a:t>confusion_matrix</a:t>
            </a:r>
            <a:r>
              <a:rPr lang="en-IN" sz="1400"/>
              <a:t>(</a:t>
            </a:r>
            <a:r>
              <a:rPr lang="en-IN" sz="1400" err="1"/>
              <a:t>y_test</a:t>
            </a:r>
            <a:r>
              <a:rPr lang="en-IN" sz="1400"/>
              <a:t>, </a:t>
            </a:r>
            <a:r>
              <a:rPr lang="en-IN" sz="1400" err="1"/>
              <a:t>y_pred</a:t>
            </a:r>
            <a:r>
              <a:rPr lang="en-IN" sz="1400"/>
              <a:t>))</a:t>
            </a:r>
          </a:p>
          <a:p>
            <a:r>
              <a:rPr lang="en-IN" sz="1400"/>
              <a:t>    print("Classification Report:\n", </a:t>
            </a:r>
            <a:r>
              <a:rPr lang="en-IN" sz="1400" err="1"/>
              <a:t>classification_report</a:t>
            </a:r>
            <a:r>
              <a:rPr lang="en-IN" sz="1400"/>
              <a:t>(</a:t>
            </a:r>
            <a:r>
              <a:rPr lang="en-IN" sz="1400" err="1"/>
              <a:t>y_test</a:t>
            </a:r>
            <a:r>
              <a:rPr lang="en-IN" sz="1400"/>
              <a:t>, </a:t>
            </a:r>
            <a:r>
              <a:rPr lang="en-IN" sz="1400" err="1"/>
              <a:t>y_pred</a:t>
            </a:r>
            <a:r>
              <a:rPr lang="en-IN" sz="1400"/>
              <a:t>))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# --- 8. Best Model ---</a:t>
            </a:r>
          </a:p>
          <a:p>
            <a:r>
              <a:rPr lang="en-IN" sz="1400" err="1"/>
              <a:t>best_model</a:t>
            </a:r>
            <a:r>
              <a:rPr lang="en-IN" sz="1400"/>
              <a:t> = max(results, key=</a:t>
            </a:r>
            <a:r>
              <a:rPr lang="en-IN" sz="1400" err="1"/>
              <a:t>results.get</a:t>
            </a:r>
            <a:r>
              <a:rPr lang="en-IN" sz="1400"/>
              <a:t>)</a:t>
            </a:r>
          </a:p>
          <a:p>
            <a:r>
              <a:rPr lang="en-IN" sz="1400"/>
              <a:t>print("\</a:t>
            </a:r>
            <a:r>
              <a:rPr lang="en-IN" sz="1400" err="1"/>
              <a:t>nBest</a:t>
            </a:r>
            <a:r>
              <a:rPr lang="en-IN" sz="1400"/>
              <a:t> Model:", </a:t>
            </a:r>
            <a:r>
              <a:rPr lang="en-IN" sz="1400" err="1"/>
              <a:t>best_model</a:t>
            </a:r>
            <a:r>
              <a:rPr lang="en-IN" sz="1400"/>
              <a:t>)</a:t>
            </a:r>
          </a:p>
          <a:p>
            <a:br>
              <a:rPr lang="en-IN"/>
            </a:b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310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B06DA-37B1-2CB7-43B0-BFC6E4C2BFFF}"/>
              </a:ext>
            </a:extLst>
          </p:cNvPr>
          <p:cNvSpPr txBox="1"/>
          <p:nvPr/>
        </p:nvSpPr>
        <p:spPr>
          <a:xfrm>
            <a:off x="1219200" y="245806"/>
            <a:ext cx="5742039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/>
            </a:br>
            <a:endParaRPr lang="en-IN" sz="1400"/>
          </a:p>
          <a:p>
            <a:r>
              <a:rPr lang="en-IN" sz="1400"/>
              <a:t># --- 9. Visualization ---</a:t>
            </a:r>
            <a:br>
              <a:rPr lang="en-IN" sz="1400"/>
            </a:br>
            <a:endParaRPr lang="en-IN" sz="1400"/>
          </a:p>
          <a:p>
            <a:r>
              <a:rPr lang="en-IN" sz="1400"/>
              <a:t># 1. Water Quality Distribution</a:t>
            </a:r>
          </a:p>
          <a:p>
            <a:r>
              <a:rPr lang="en-IN" sz="1400" err="1"/>
              <a:t>plt.figure</a:t>
            </a:r>
            <a:r>
              <a:rPr lang="en-IN" sz="1400"/>
              <a:t>()</a:t>
            </a:r>
          </a:p>
          <a:p>
            <a:r>
              <a:rPr lang="en-IN" sz="1400" err="1"/>
              <a:t>df</a:t>
            </a:r>
            <a:r>
              <a:rPr lang="en-IN" sz="1400"/>
              <a:t>['</a:t>
            </a:r>
            <a:r>
              <a:rPr lang="en-IN" sz="1400" err="1"/>
              <a:t>Water_Quality</a:t>
            </a:r>
            <a:r>
              <a:rPr lang="en-IN" sz="1400"/>
              <a:t>'].</a:t>
            </a:r>
            <a:r>
              <a:rPr lang="en-IN" sz="1400" err="1"/>
              <a:t>value_counts</a:t>
            </a:r>
            <a:r>
              <a:rPr lang="en-IN" sz="1400"/>
              <a:t>().plot(kind='bar')</a:t>
            </a:r>
          </a:p>
          <a:p>
            <a:r>
              <a:rPr lang="en-IN" sz="1400" err="1"/>
              <a:t>plt.title</a:t>
            </a:r>
            <a:r>
              <a:rPr lang="en-IN" sz="1400"/>
              <a:t>("Water Quality Distribution")</a:t>
            </a:r>
          </a:p>
          <a:p>
            <a:r>
              <a:rPr lang="en-IN" sz="1400" err="1"/>
              <a:t>plt.show</a:t>
            </a:r>
            <a:r>
              <a:rPr lang="en-IN" sz="1400"/>
              <a:t>()</a:t>
            </a:r>
            <a:br>
              <a:rPr lang="en-IN" sz="1400"/>
            </a:br>
            <a:endParaRPr lang="en-IN" sz="1400"/>
          </a:p>
          <a:p>
            <a:r>
              <a:rPr lang="en-IN" sz="1400"/>
              <a:t># 2. Correlation Heatmap</a:t>
            </a:r>
          </a:p>
          <a:p>
            <a:r>
              <a:rPr lang="en-IN" sz="1400" err="1"/>
              <a:t>plt.figure</a:t>
            </a:r>
            <a:r>
              <a:rPr lang="en-IN" sz="1400"/>
              <a:t>()</a:t>
            </a:r>
          </a:p>
          <a:p>
            <a:r>
              <a:rPr lang="en-IN" sz="1400" err="1"/>
              <a:t>corr</a:t>
            </a:r>
            <a:r>
              <a:rPr lang="en-IN" sz="1400"/>
              <a:t> = </a:t>
            </a:r>
            <a:r>
              <a:rPr lang="en-IN" sz="1400" err="1"/>
              <a:t>df.corr</a:t>
            </a:r>
            <a:r>
              <a:rPr lang="en-IN" sz="1400"/>
              <a:t>()</a:t>
            </a:r>
          </a:p>
          <a:p>
            <a:r>
              <a:rPr lang="en-IN" sz="1400" err="1"/>
              <a:t>plt.imshow</a:t>
            </a:r>
            <a:r>
              <a:rPr lang="en-IN" sz="1400"/>
              <a:t>(</a:t>
            </a:r>
            <a:r>
              <a:rPr lang="en-IN" sz="1400" err="1"/>
              <a:t>corr</a:t>
            </a:r>
            <a:r>
              <a:rPr lang="en-IN" sz="1400"/>
              <a:t>)</a:t>
            </a:r>
          </a:p>
          <a:p>
            <a:r>
              <a:rPr lang="en-IN" sz="1400" err="1"/>
              <a:t>plt.colorbar</a:t>
            </a:r>
            <a:r>
              <a:rPr lang="en-IN" sz="1400"/>
              <a:t>()</a:t>
            </a:r>
          </a:p>
          <a:p>
            <a:r>
              <a:rPr lang="en-IN" sz="1400" err="1"/>
              <a:t>plt.xticks</a:t>
            </a:r>
            <a:r>
              <a:rPr lang="en-IN" sz="1400"/>
              <a:t>(range(</a:t>
            </a:r>
            <a:r>
              <a:rPr lang="en-IN" sz="1400" err="1"/>
              <a:t>len</a:t>
            </a:r>
            <a:r>
              <a:rPr lang="en-IN" sz="1400"/>
              <a:t>(</a:t>
            </a:r>
            <a:r>
              <a:rPr lang="en-IN" sz="1400" err="1"/>
              <a:t>corr.columns</a:t>
            </a:r>
            <a:r>
              <a:rPr lang="en-IN" sz="1400"/>
              <a:t>)), </a:t>
            </a:r>
            <a:r>
              <a:rPr lang="en-IN" sz="1400" err="1"/>
              <a:t>corr.columns</a:t>
            </a:r>
            <a:r>
              <a:rPr lang="en-IN" sz="1400"/>
              <a:t>, rotation=90)</a:t>
            </a:r>
          </a:p>
          <a:p>
            <a:r>
              <a:rPr lang="en-IN" sz="1400" err="1"/>
              <a:t>plt.yticks</a:t>
            </a:r>
            <a:r>
              <a:rPr lang="en-IN" sz="1400"/>
              <a:t>(range(</a:t>
            </a:r>
            <a:r>
              <a:rPr lang="en-IN" sz="1400" err="1"/>
              <a:t>len</a:t>
            </a:r>
            <a:r>
              <a:rPr lang="en-IN" sz="1400"/>
              <a:t>(</a:t>
            </a:r>
            <a:r>
              <a:rPr lang="en-IN" sz="1400" err="1"/>
              <a:t>corr.columns</a:t>
            </a:r>
            <a:r>
              <a:rPr lang="en-IN" sz="1400"/>
              <a:t>)), </a:t>
            </a:r>
            <a:r>
              <a:rPr lang="en-IN" sz="1400" err="1"/>
              <a:t>corr.columns</a:t>
            </a:r>
            <a:r>
              <a:rPr lang="en-IN" sz="1400"/>
              <a:t>)</a:t>
            </a:r>
          </a:p>
          <a:p>
            <a:r>
              <a:rPr lang="en-IN" sz="1400" err="1"/>
              <a:t>plt.title</a:t>
            </a:r>
            <a:r>
              <a:rPr lang="en-IN" sz="1400"/>
              <a:t>("Correlation Heatmap")</a:t>
            </a:r>
          </a:p>
          <a:p>
            <a:r>
              <a:rPr lang="en-IN" sz="1400" err="1"/>
              <a:t>plt.show</a:t>
            </a:r>
            <a:r>
              <a:rPr lang="en-IN" sz="1400"/>
              <a:t>()</a:t>
            </a:r>
          </a:p>
          <a:p>
            <a:endParaRPr lang="en-IN" sz="1400"/>
          </a:p>
          <a:p>
            <a:r>
              <a:rPr lang="en-IN" sz="1400"/>
              <a:t># 3. Feature Importance</a:t>
            </a:r>
          </a:p>
          <a:p>
            <a:r>
              <a:rPr lang="en-IN" sz="1400"/>
              <a:t>best = models[</a:t>
            </a:r>
            <a:r>
              <a:rPr lang="en-IN" sz="1400" err="1"/>
              <a:t>best_model</a:t>
            </a:r>
            <a:r>
              <a:rPr lang="en-IN" sz="1400"/>
              <a:t>]</a:t>
            </a:r>
          </a:p>
          <a:p>
            <a:r>
              <a:rPr lang="en-IN" sz="1400"/>
              <a:t>importances = </a:t>
            </a:r>
            <a:r>
              <a:rPr lang="en-IN" sz="1400" err="1"/>
              <a:t>best.feature_importances</a:t>
            </a:r>
            <a:r>
              <a:rPr lang="en-IN" sz="1400"/>
              <a:t>_</a:t>
            </a:r>
          </a:p>
          <a:p>
            <a:endParaRPr lang="en-IN" sz="1400"/>
          </a:p>
          <a:p>
            <a:r>
              <a:rPr lang="en-IN" sz="1400" err="1"/>
              <a:t>plt.figure</a:t>
            </a:r>
            <a:r>
              <a:rPr lang="en-IN" sz="1400"/>
              <a:t>()</a:t>
            </a:r>
          </a:p>
          <a:p>
            <a:r>
              <a:rPr lang="en-IN" sz="1400" err="1"/>
              <a:t>plt.bar</a:t>
            </a:r>
            <a:r>
              <a:rPr lang="en-IN" sz="1400"/>
              <a:t>(features, importances)</a:t>
            </a:r>
          </a:p>
          <a:p>
            <a:r>
              <a:rPr lang="en-IN" sz="1400" err="1"/>
              <a:t>plt.xticks</a:t>
            </a:r>
            <a:r>
              <a:rPr lang="en-IN" sz="1400"/>
              <a:t>(rotation=45)</a:t>
            </a:r>
          </a:p>
          <a:p>
            <a:r>
              <a:rPr lang="en-IN" sz="1400" err="1"/>
              <a:t>plt.title</a:t>
            </a:r>
            <a:r>
              <a:rPr lang="en-IN" sz="1400"/>
              <a:t>("Feature Importance (" + </a:t>
            </a:r>
            <a:r>
              <a:rPr lang="en-IN" sz="1400" err="1"/>
              <a:t>best_model</a:t>
            </a:r>
            <a:r>
              <a:rPr lang="en-IN" sz="1400"/>
              <a:t> + ")")</a:t>
            </a:r>
          </a:p>
          <a:p>
            <a:r>
              <a:rPr lang="en-IN" sz="1400" err="1"/>
              <a:t>plt.show</a:t>
            </a:r>
            <a:r>
              <a:rPr lang="en-IN" sz="1400"/>
              <a:t>()</a:t>
            </a:r>
          </a:p>
          <a:p>
            <a:br>
              <a:rPr lang="en-IN" sz="1400"/>
            </a:br>
            <a:br>
              <a:rPr lang="en-IN" sz="1400"/>
            </a:br>
            <a:endParaRPr lang="en-IN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1B71F-A087-313A-3BDF-58F4E576164B}"/>
              </a:ext>
            </a:extLst>
          </p:cNvPr>
          <p:cNvSpPr txBox="1"/>
          <p:nvPr/>
        </p:nvSpPr>
        <p:spPr>
          <a:xfrm>
            <a:off x="6577781" y="412955"/>
            <a:ext cx="4532395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# --- 10. User Input for Prediction ---</a:t>
            </a:r>
          </a:p>
          <a:p>
            <a:r>
              <a:rPr lang="en-IN" sz="1400"/>
              <a:t>print("\</a:t>
            </a:r>
            <a:r>
              <a:rPr lang="en-IN" sz="1400" err="1"/>
              <a:t>nEnter</a:t>
            </a:r>
            <a:r>
              <a:rPr lang="en-IN" sz="1400"/>
              <a:t> Water Quality Parameters:")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 err="1"/>
              <a:t>ph</a:t>
            </a:r>
            <a:r>
              <a:rPr lang="en-IN" sz="1400"/>
              <a:t> = float(input("pH: "))</a:t>
            </a:r>
          </a:p>
          <a:p>
            <a:r>
              <a:rPr lang="en-IN" sz="1400" err="1"/>
              <a:t>ec</a:t>
            </a:r>
            <a:r>
              <a:rPr lang="en-IN" sz="1400"/>
              <a:t> = float(input("EC: "))</a:t>
            </a:r>
          </a:p>
          <a:p>
            <a:r>
              <a:rPr lang="en-IN" sz="1400" err="1"/>
              <a:t>tds</a:t>
            </a:r>
            <a:r>
              <a:rPr lang="en-IN" sz="1400"/>
              <a:t> = float(input("TDS: "))</a:t>
            </a:r>
          </a:p>
          <a:p>
            <a:r>
              <a:rPr lang="en-IN" sz="1400" err="1"/>
              <a:t>alk</a:t>
            </a:r>
            <a:r>
              <a:rPr lang="en-IN" sz="1400"/>
              <a:t> = float(input("Alkalinity: "))</a:t>
            </a:r>
          </a:p>
          <a:p>
            <a:r>
              <a:rPr lang="en-IN" sz="1400"/>
              <a:t>hard = float(input("Hardness: "))</a:t>
            </a:r>
          </a:p>
          <a:p>
            <a:r>
              <a:rPr lang="en-IN" sz="1400"/>
              <a:t>cl = float(input("Cl: "))</a:t>
            </a:r>
          </a:p>
          <a:p>
            <a:r>
              <a:rPr lang="en-IN" sz="1400"/>
              <a:t>f = float(input("F: "))</a:t>
            </a:r>
          </a:p>
          <a:p>
            <a:r>
              <a:rPr lang="en-IN" sz="1400"/>
              <a:t>no3 = float(input("NO3: "))</a:t>
            </a:r>
          </a:p>
          <a:p>
            <a:r>
              <a:rPr lang="en-IN" sz="1400"/>
              <a:t>so4 = float(input("SO4: "))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sample = [[</a:t>
            </a:r>
            <a:r>
              <a:rPr lang="en-IN" sz="1400" err="1"/>
              <a:t>ph</a:t>
            </a:r>
            <a:r>
              <a:rPr lang="en-IN" sz="1400"/>
              <a:t>, </a:t>
            </a:r>
            <a:r>
              <a:rPr lang="en-IN" sz="1400" err="1"/>
              <a:t>ec</a:t>
            </a:r>
            <a:r>
              <a:rPr lang="en-IN" sz="1400"/>
              <a:t>, </a:t>
            </a:r>
            <a:r>
              <a:rPr lang="en-IN" sz="1400" err="1"/>
              <a:t>tds</a:t>
            </a:r>
            <a:r>
              <a:rPr lang="en-IN" sz="1400"/>
              <a:t>, </a:t>
            </a:r>
            <a:r>
              <a:rPr lang="en-IN" sz="1400" err="1"/>
              <a:t>alk</a:t>
            </a:r>
            <a:r>
              <a:rPr lang="en-IN" sz="1400"/>
              <a:t>, hard, cl, f, no3, so4]]</a:t>
            </a:r>
          </a:p>
          <a:p>
            <a:r>
              <a:rPr lang="en-IN" sz="1400" err="1"/>
              <a:t>sample_scaled</a:t>
            </a:r>
            <a:r>
              <a:rPr lang="en-IN" sz="1400"/>
              <a:t> = </a:t>
            </a:r>
            <a:r>
              <a:rPr lang="en-IN" sz="1400" err="1"/>
              <a:t>scaler.transform</a:t>
            </a:r>
            <a:r>
              <a:rPr lang="en-IN" sz="1400"/>
              <a:t>(sample)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prediction = models[</a:t>
            </a:r>
            <a:r>
              <a:rPr lang="en-IN" sz="1400" err="1"/>
              <a:t>best_model</a:t>
            </a:r>
            <a:r>
              <a:rPr lang="en-IN" sz="1400"/>
              <a:t>].predict(</a:t>
            </a:r>
            <a:r>
              <a:rPr lang="en-IN" sz="1400" err="1"/>
              <a:t>sample_scaled</a:t>
            </a:r>
            <a:r>
              <a:rPr lang="en-IN" sz="1400"/>
              <a:t>)</a:t>
            </a:r>
          </a:p>
          <a:p>
            <a:br>
              <a:rPr lang="en-IN" sz="1400"/>
            </a:br>
            <a:endParaRPr lang="en-IN" sz="1400"/>
          </a:p>
          <a:p>
            <a:r>
              <a:rPr lang="en-IN" sz="1400"/>
              <a:t>print("\</a:t>
            </a:r>
            <a:r>
              <a:rPr lang="en-IN" sz="1400" err="1"/>
              <a:t>nPrediction</a:t>
            </a:r>
            <a:r>
              <a:rPr lang="en-IN" sz="1400"/>
              <a:t>:",</a:t>
            </a:r>
          </a:p>
          <a:p>
            <a:r>
              <a:rPr lang="en-IN" sz="1400"/>
              <a:t>      "Safe Water" if prediction[0] == 1 else "Unsafe Water")</a:t>
            </a:r>
          </a:p>
          <a:p>
            <a:endParaRPr lang="en-IN" sz="1400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67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8D2BA-868A-364F-6BEF-1093AE369851}"/>
              </a:ext>
            </a:extLst>
          </p:cNvPr>
          <p:cNvSpPr txBox="1"/>
          <p:nvPr/>
        </p:nvSpPr>
        <p:spPr>
          <a:xfrm>
            <a:off x="1366684" y="344129"/>
            <a:ext cx="546673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Random Forest Results:</a:t>
            </a:r>
          </a:p>
          <a:p>
            <a:r>
              <a:rPr lang="en-IN" sz="1400"/>
              <a:t>Accuracy: 0.95</a:t>
            </a:r>
          </a:p>
          <a:p>
            <a:r>
              <a:rPr lang="en-IN" sz="1400"/>
              <a:t>Confusion Matrix:</a:t>
            </a:r>
          </a:p>
          <a:p>
            <a:r>
              <a:rPr lang="en-IN" sz="1400"/>
              <a:t> [[57  0]</a:t>
            </a:r>
          </a:p>
          <a:p>
            <a:r>
              <a:rPr lang="en-IN" sz="1400"/>
              <a:t> [ 3  0]]</a:t>
            </a:r>
          </a:p>
          <a:p>
            <a:r>
              <a:rPr lang="en-IN" sz="1400"/>
              <a:t>Classification Report:</a:t>
            </a:r>
          </a:p>
          <a:p>
            <a:r>
              <a:rPr lang="en-IN" sz="1400"/>
              <a:t>               precision    recall  f1-score   support</a:t>
            </a:r>
          </a:p>
          <a:p>
            <a:endParaRPr lang="en-IN" sz="1400"/>
          </a:p>
          <a:p>
            <a:r>
              <a:rPr lang="en-IN" sz="1400"/>
              <a:t>           0       0.95      1.00      0.97        57</a:t>
            </a:r>
          </a:p>
          <a:p>
            <a:r>
              <a:rPr lang="en-IN" sz="1400"/>
              <a:t>           1       0.00      0.00      0.00         3</a:t>
            </a:r>
          </a:p>
          <a:p>
            <a:endParaRPr lang="en-IN" sz="1400"/>
          </a:p>
          <a:p>
            <a:r>
              <a:rPr lang="en-IN" sz="1400"/>
              <a:t>    accuracy                           0.95        60</a:t>
            </a:r>
          </a:p>
          <a:p>
            <a:r>
              <a:rPr lang="en-IN" sz="1400"/>
              <a:t>   macro </a:t>
            </a:r>
            <a:r>
              <a:rPr lang="en-IN" sz="1400" err="1"/>
              <a:t>avg</a:t>
            </a:r>
            <a:r>
              <a:rPr lang="en-IN" sz="1400"/>
              <a:t>       0.47      0.50      0.49        60</a:t>
            </a:r>
          </a:p>
          <a:p>
            <a:r>
              <a:rPr lang="en-IN" sz="1400"/>
              <a:t>weighted </a:t>
            </a:r>
            <a:r>
              <a:rPr lang="en-IN" sz="1400" err="1"/>
              <a:t>avg</a:t>
            </a:r>
            <a:r>
              <a:rPr lang="en-IN" sz="1400"/>
              <a:t>       0.90      0.95      0.93        60</a:t>
            </a:r>
          </a:p>
          <a:p>
            <a:endParaRPr lang="en-IN" sz="1400"/>
          </a:p>
          <a:p>
            <a:endParaRPr lang="en-IN" sz="1400"/>
          </a:p>
          <a:p>
            <a:r>
              <a:rPr lang="en-IN" sz="1400"/>
              <a:t>Decision Tree Results:</a:t>
            </a:r>
          </a:p>
          <a:p>
            <a:r>
              <a:rPr lang="en-IN" sz="1400"/>
              <a:t>Accuracy: 0.9666666666666667</a:t>
            </a:r>
          </a:p>
          <a:p>
            <a:r>
              <a:rPr lang="en-IN" sz="1400"/>
              <a:t>Confusion Matrix:</a:t>
            </a:r>
          </a:p>
          <a:p>
            <a:r>
              <a:rPr lang="en-IN" sz="1400"/>
              <a:t> [[57  0]</a:t>
            </a:r>
          </a:p>
          <a:p>
            <a:r>
              <a:rPr lang="en-IN" sz="1400"/>
              <a:t> [ 2  1]]</a:t>
            </a:r>
          </a:p>
          <a:p>
            <a:r>
              <a:rPr lang="en-IN" sz="1400"/>
              <a:t>Classification Report:</a:t>
            </a:r>
          </a:p>
          <a:p>
            <a:r>
              <a:rPr lang="en-IN" sz="1400"/>
              <a:t>               precision    recall  f1-score   support</a:t>
            </a:r>
          </a:p>
          <a:p>
            <a:endParaRPr lang="en-IN" sz="1400"/>
          </a:p>
          <a:p>
            <a:r>
              <a:rPr lang="en-IN" sz="1400"/>
              <a:t>           0       0.97      1.00      0.98        57</a:t>
            </a:r>
          </a:p>
          <a:p>
            <a:r>
              <a:rPr lang="en-IN" sz="1400"/>
              <a:t>           1       1.00      0.33      0.50         3</a:t>
            </a:r>
          </a:p>
          <a:p>
            <a:endParaRPr lang="en-IN" sz="1400"/>
          </a:p>
          <a:p>
            <a:r>
              <a:rPr lang="en-IN" sz="1400"/>
              <a:t>    accuracy                           0.97        60</a:t>
            </a:r>
          </a:p>
          <a:p>
            <a:r>
              <a:rPr lang="en-IN" sz="1400"/>
              <a:t>   macro </a:t>
            </a:r>
            <a:r>
              <a:rPr lang="en-IN" sz="1400" err="1"/>
              <a:t>avg</a:t>
            </a:r>
            <a:r>
              <a:rPr lang="en-IN" sz="1400"/>
              <a:t>       0.98      0.67      0.74        60</a:t>
            </a:r>
          </a:p>
          <a:p>
            <a:r>
              <a:rPr lang="en-IN" sz="1400"/>
              <a:t>weighted </a:t>
            </a:r>
            <a:r>
              <a:rPr lang="en-IN" sz="1400" err="1"/>
              <a:t>avg</a:t>
            </a:r>
            <a:r>
              <a:rPr lang="en-IN" sz="1400"/>
              <a:t>       0.97      0.97      0.96        60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B6050-7BD1-6EF3-6865-AA0A8BC677E5}"/>
              </a:ext>
            </a:extLst>
          </p:cNvPr>
          <p:cNvSpPr txBox="1"/>
          <p:nvPr/>
        </p:nvSpPr>
        <p:spPr>
          <a:xfrm>
            <a:off x="8003457" y="225727"/>
            <a:ext cx="2998839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/>
          </a:p>
          <a:p>
            <a:endParaRPr lang="en-IN" sz="1400"/>
          </a:p>
          <a:p>
            <a:r>
              <a:rPr lang="en-IN" sz="1400"/>
              <a:t>Logistic Regression Results:</a:t>
            </a:r>
          </a:p>
          <a:p>
            <a:r>
              <a:rPr lang="en-IN" sz="1400"/>
              <a:t>Accuracy: 0.95</a:t>
            </a:r>
          </a:p>
          <a:p>
            <a:r>
              <a:rPr lang="en-IN" sz="1400"/>
              <a:t>Confusion Matrix:</a:t>
            </a:r>
          </a:p>
          <a:p>
            <a:r>
              <a:rPr lang="en-IN" sz="1400"/>
              <a:t> [[57  0]</a:t>
            </a:r>
          </a:p>
          <a:p>
            <a:r>
              <a:rPr lang="en-IN" sz="1400"/>
              <a:t> [ 3  0]]</a:t>
            </a:r>
          </a:p>
          <a:p>
            <a:r>
              <a:rPr lang="en-IN" sz="1400"/>
              <a:t>Classification Report:</a:t>
            </a:r>
          </a:p>
          <a:p>
            <a:r>
              <a:rPr lang="en-IN" sz="1400"/>
              <a:t>               precision    recall  f1-score   support</a:t>
            </a:r>
          </a:p>
          <a:p>
            <a:endParaRPr lang="en-IN" sz="1400"/>
          </a:p>
          <a:p>
            <a:r>
              <a:rPr lang="en-IN" sz="1400"/>
              <a:t>           0       0.95      1.00      0.97        57</a:t>
            </a:r>
          </a:p>
          <a:p>
            <a:r>
              <a:rPr lang="en-IN" sz="1400"/>
              <a:t>           1       0.00      0.00      0.00         3</a:t>
            </a:r>
          </a:p>
          <a:p>
            <a:endParaRPr lang="en-IN" sz="1400"/>
          </a:p>
          <a:p>
            <a:r>
              <a:rPr lang="en-IN" sz="1400"/>
              <a:t>    accuracy                           0.95        60</a:t>
            </a:r>
          </a:p>
          <a:p>
            <a:r>
              <a:rPr lang="en-IN" sz="1400"/>
              <a:t>   macro </a:t>
            </a:r>
            <a:r>
              <a:rPr lang="en-IN" sz="1400" err="1"/>
              <a:t>avg</a:t>
            </a:r>
            <a:r>
              <a:rPr lang="en-IN" sz="1400"/>
              <a:t>       0.47      0.50      0.49        60</a:t>
            </a:r>
          </a:p>
          <a:p>
            <a:r>
              <a:rPr lang="en-IN" sz="1400"/>
              <a:t>weighted </a:t>
            </a:r>
            <a:r>
              <a:rPr lang="en-IN" sz="1400" err="1"/>
              <a:t>avg</a:t>
            </a:r>
            <a:r>
              <a:rPr lang="en-IN" sz="1400"/>
              <a:t>       0.90      0.95      0.93        60</a:t>
            </a:r>
          </a:p>
          <a:p>
            <a:endParaRPr lang="en-IN" sz="1400"/>
          </a:p>
          <a:p>
            <a:endParaRPr lang="en-IN" sz="1400"/>
          </a:p>
          <a:p>
            <a:r>
              <a:rPr lang="en-IN" sz="1400" b="1"/>
              <a:t>Best Model: Decision Tree</a:t>
            </a:r>
          </a:p>
          <a:p>
            <a:br>
              <a:rPr lang="en-IN"/>
            </a:br>
            <a:endParaRPr lang="en-IN"/>
          </a:p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C1E37-43BD-A57F-F0EE-98B168E00454}"/>
              </a:ext>
            </a:extLst>
          </p:cNvPr>
          <p:cNvSpPr txBox="1"/>
          <p:nvPr/>
        </p:nvSpPr>
        <p:spPr>
          <a:xfrm>
            <a:off x="4866967" y="20963"/>
            <a:ext cx="217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79669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9CDABEA-5F08-3FF7-4C92-DCF09A5EC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18" y="0"/>
            <a:ext cx="4220538" cy="34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7A19C03-1DAB-C068-117F-E65D375F8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86751"/>
            <a:ext cx="5344778" cy="475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739D54C-2767-3701-E896-9211D7AF9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18" y="3665583"/>
            <a:ext cx="3809399" cy="326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370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930B-DC6F-4F26-6A4F-AB70BFA8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22767D-9434-350D-AD1B-29592BC6FA8E}"/>
              </a:ext>
            </a:extLst>
          </p:cNvPr>
          <p:cNvSpPr txBox="1"/>
          <p:nvPr/>
        </p:nvSpPr>
        <p:spPr>
          <a:xfrm>
            <a:off x="806245" y="0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/>
              <a:t>DISCUSSION</a:t>
            </a:r>
          </a:p>
          <a:p>
            <a:pPr>
              <a:buNone/>
            </a:pPr>
            <a:endParaRPr lang="en-US" sz="3600" b="1"/>
          </a:p>
          <a:p>
            <a:pPr>
              <a:buNone/>
            </a:pPr>
            <a:r>
              <a:rPr lang="en-US" sz="2400" b="1"/>
              <a:t> Key Insights Derived from the Project</a:t>
            </a:r>
          </a:p>
          <a:p>
            <a:pPr>
              <a:buNone/>
            </a:pPr>
            <a:endParaRPr lang="en-US" sz="2400"/>
          </a:p>
          <a:p>
            <a:r>
              <a:rPr lang="en-US"/>
              <a:t>1. accuracy in classifying groundwater quality based on physicochemical parameters. </a:t>
            </a:r>
          </a:p>
          <a:p>
            <a:endParaRPr lang="en-US"/>
          </a:p>
          <a:p>
            <a:r>
              <a:rPr lang="en-US"/>
              <a:t>2.Parameters like TDS, EC, and hardness had strong influence on water quality prediction. </a:t>
            </a:r>
          </a:p>
          <a:p>
            <a:endParaRPr lang="en-US"/>
          </a:p>
          <a:p>
            <a:pPr>
              <a:buNone/>
            </a:pPr>
            <a:r>
              <a:rPr lang="en-US" sz="2400" b="1"/>
              <a:t> Challenges Faced (Data Quality, Noise, Imbalance, Feature Selection)</a:t>
            </a:r>
          </a:p>
          <a:p>
            <a:pPr>
              <a:buNone/>
            </a:pPr>
            <a:endParaRPr lang="en-US" sz="2400"/>
          </a:p>
          <a:p>
            <a:r>
              <a:rPr lang="en-US"/>
              <a:t>1.Presence of missing values and noisy data affected model performance.</a:t>
            </a:r>
          </a:p>
          <a:p>
            <a:r>
              <a:rPr lang="en-US"/>
              <a:t> </a:t>
            </a:r>
          </a:p>
          <a:p>
            <a:r>
              <a:rPr lang="en-US"/>
              <a:t>2.Class imbalance (more “safe” than “unsafe” samples) required careful handling for accurate prediction</a:t>
            </a:r>
            <a:r>
              <a:rPr lang="en-US" sz="240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CD9AB-76F9-E0B2-DF70-2C47D5552712}"/>
              </a:ext>
            </a:extLst>
          </p:cNvPr>
          <p:cNvSpPr txBox="1"/>
          <p:nvPr/>
        </p:nvSpPr>
        <p:spPr>
          <a:xfrm>
            <a:off x="6676102" y="1107996"/>
            <a:ext cx="5211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Limitations of the Approach or Dataset</a:t>
            </a:r>
            <a:endParaRPr lang="en-US" sz="2400"/>
          </a:p>
          <a:p>
            <a:endParaRPr lang="en-US"/>
          </a:p>
          <a:p>
            <a:r>
              <a:rPr lang="en-US"/>
              <a:t>1.Limited dataset size and region-specific data reduce generalization to other areas. </a:t>
            </a:r>
          </a:p>
          <a:p>
            <a:endParaRPr lang="en-US"/>
          </a:p>
          <a:p>
            <a:r>
              <a:rPr lang="en-US"/>
              <a:t>2.Lack of temporal data (seasonal variations) limits long-term prediction capability</a:t>
            </a:r>
            <a:r>
              <a:rPr lang="en-US" sz="2400"/>
              <a:t>. </a:t>
            </a:r>
          </a:p>
          <a:p>
            <a:endParaRPr lang="en-US" sz="2400"/>
          </a:p>
          <a:p>
            <a:r>
              <a:rPr lang="en-US" sz="2400" b="1"/>
              <a:t> Impact on Agricultural Decision-Making</a:t>
            </a:r>
          </a:p>
          <a:p>
            <a:endParaRPr lang="en-US" sz="2400"/>
          </a:p>
          <a:p>
            <a:r>
              <a:rPr lang="en-US"/>
              <a:t>1.Helps farmers identify safe groundwater for irrigation, improving crop yield and soil health.</a:t>
            </a:r>
          </a:p>
          <a:p>
            <a:r>
              <a:rPr lang="en-US"/>
              <a:t> </a:t>
            </a:r>
          </a:p>
          <a:p>
            <a:r>
              <a:rPr lang="en-US"/>
              <a:t>2.Supports efficient water resource management and sustainable farming </a:t>
            </a:r>
          </a:p>
        </p:txBody>
      </p:sp>
    </p:spTree>
    <p:extLst>
      <p:ext uri="{BB962C8B-B14F-4D97-AF65-F5344CB8AC3E}">
        <p14:creationId xmlns:p14="http://schemas.microsoft.com/office/powerpoint/2010/main" val="2104358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5C128-0CC7-2BD9-62AF-907CBB7E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A742E-41A5-1AE3-9E61-2AE57A872576}"/>
              </a:ext>
            </a:extLst>
          </p:cNvPr>
          <p:cNvSpPr txBox="1"/>
          <p:nvPr/>
        </p:nvSpPr>
        <p:spPr>
          <a:xfrm>
            <a:off x="835742" y="-86344"/>
            <a:ext cx="63811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/>
              <a:t>CONCLUSION &amp; FUTUREWORK</a:t>
            </a:r>
          </a:p>
          <a:p>
            <a:endParaRPr lang="en-IN" sz="3600"/>
          </a:p>
          <a:p>
            <a:endParaRPr lang="en-IN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B2B9C-DDFC-A3B1-682C-CF6487E19B5A}"/>
              </a:ext>
            </a:extLst>
          </p:cNvPr>
          <p:cNvSpPr txBox="1"/>
          <p:nvPr/>
        </p:nvSpPr>
        <p:spPr>
          <a:xfrm>
            <a:off x="717757" y="412503"/>
            <a:ext cx="114742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/>
          </a:p>
          <a:p>
            <a:pPr>
              <a:buNone/>
            </a:pPr>
            <a:r>
              <a:rPr lang="en-US" sz="2000" b="1"/>
              <a:t>       Project Summary &amp; Outcomes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Random Forest performed best, providing reliable and accurate predictions.</a:t>
            </a:r>
          </a:p>
          <a:p>
            <a:endParaRPr lang="en-US" sz="2000"/>
          </a:p>
          <a:p>
            <a:pPr>
              <a:buNone/>
            </a:pPr>
            <a:r>
              <a:rPr lang="en-US" sz="2000" b="1"/>
              <a:t>      Potential Improvements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Use larger and more diverse datasets (multi-seasonal, multi-location).</a:t>
            </a:r>
          </a:p>
          <a:p>
            <a:r>
              <a:rPr lang="en-US" sz="20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Apply advanced models (Deep Learning, Ensemble techniques) and real-time IoT-based monitoring systems. </a:t>
            </a:r>
          </a:p>
          <a:p>
            <a:pPr>
              <a:buNone/>
            </a:pPr>
            <a:r>
              <a:rPr lang="en-US" sz="2000"/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2F3E8-B456-E09B-6090-C4E490D8FFA9}"/>
              </a:ext>
            </a:extLst>
          </p:cNvPr>
          <p:cNvSpPr txBox="1"/>
          <p:nvPr/>
        </p:nvSpPr>
        <p:spPr>
          <a:xfrm>
            <a:off x="835742" y="3262048"/>
            <a:ext cx="109334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/>
              <a:t>    Practical </a:t>
            </a:r>
            <a:r>
              <a:rPr lang="en-US" sz="2000" b="1" err="1"/>
              <a:t>Appliations</a:t>
            </a:r>
            <a:r>
              <a:rPr lang="en-US" sz="2000" b="1"/>
              <a:t> in Farming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Helps farmers select suitable water for irrigation, preventing soil degradation. </a:t>
            </a:r>
          </a:p>
          <a:p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Supports precision agriculture and sustainable water management.</a:t>
            </a:r>
          </a:p>
          <a:p>
            <a:r>
              <a:rPr lang="en-US" sz="2000"/>
              <a:t> </a:t>
            </a:r>
          </a:p>
          <a:p>
            <a:pPr>
              <a:buNone/>
            </a:pPr>
            <a:r>
              <a:rPr lang="en-US" sz="2000" b="1"/>
              <a:t>   Learning &amp; Acknowledgement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Gained hands-on experience in data preprocessing, model building, and evaluation. </a:t>
            </a:r>
          </a:p>
          <a:p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Developed skills in applying AI/ML for real-world agricultural problems. </a:t>
            </a:r>
          </a:p>
        </p:txBody>
      </p:sp>
    </p:spTree>
    <p:extLst>
      <p:ext uri="{BB962C8B-B14F-4D97-AF65-F5344CB8AC3E}">
        <p14:creationId xmlns:p14="http://schemas.microsoft.com/office/powerpoint/2010/main" val="2801336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109CA-05BC-1649-8737-15992380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2FAC40-7B81-E259-25D6-60AE6CBF8DF8}"/>
              </a:ext>
            </a:extLst>
          </p:cNvPr>
          <p:cNvSpPr txBox="1"/>
          <p:nvPr/>
        </p:nvSpPr>
        <p:spPr>
          <a:xfrm>
            <a:off x="1081548" y="186814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/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0380E-4BC3-1F99-DA02-DF24DDDB3980}"/>
              </a:ext>
            </a:extLst>
          </p:cNvPr>
          <p:cNvSpPr txBox="1"/>
          <p:nvPr/>
        </p:nvSpPr>
        <p:spPr>
          <a:xfrm>
            <a:off x="1081548" y="1368829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/>
              <a:t> </a:t>
            </a:r>
            <a:r>
              <a:rPr lang="en-IN" sz="2800" b="1"/>
              <a:t>DATA SOURCE</a:t>
            </a:r>
            <a:r>
              <a:rPr lang="en-IN" sz="2800"/>
              <a:t>  : </a:t>
            </a:r>
            <a:r>
              <a:rPr lang="en-IN" sz="2400"/>
              <a:t>Ground water quality 2018 post monsoon data from </a:t>
            </a:r>
            <a:r>
              <a:rPr lang="en-IN" sz="2400" err="1"/>
              <a:t>kaggle</a:t>
            </a:r>
            <a:endParaRPr lang="en-IN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53A5F-3C1C-A3DC-0BCB-493A836A4D5D}"/>
              </a:ext>
            </a:extLst>
          </p:cNvPr>
          <p:cNvSpPr txBox="1"/>
          <p:nvPr/>
        </p:nvSpPr>
        <p:spPr>
          <a:xfrm>
            <a:off x="1160207" y="2797065"/>
            <a:ext cx="67940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/>
              <a:t>1. Devendra Dohare, Shriram Deshpande, Atul </a:t>
            </a:r>
          </a:p>
          <a:p>
            <a:pPr>
              <a:buNone/>
            </a:pPr>
            <a:r>
              <a:rPr lang="en-IN" sz="2400" err="1"/>
              <a:t>Kotiya</a:t>
            </a:r>
            <a:r>
              <a:rPr lang="en-IN" sz="2400"/>
              <a:t> -Research Journal of Engineering </a:t>
            </a:r>
          </a:p>
          <a:p>
            <a:pPr>
              <a:buNone/>
            </a:pPr>
            <a:r>
              <a:rPr lang="en-IN" sz="2400"/>
              <a:t>Sciences ISSN 2278, 9472, 2014​ </a:t>
            </a:r>
          </a:p>
          <a:p>
            <a:pPr>
              <a:buNone/>
            </a:pPr>
            <a:r>
              <a:rPr lang="en-IN" sz="2400"/>
              <a:t>2. Praharsh S Patel, Dishant M Pandya, </a:t>
            </a:r>
          </a:p>
          <a:p>
            <a:pPr>
              <a:buNone/>
            </a:pPr>
            <a:r>
              <a:rPr lang="en-IN" sz="2400"/>
              <a:t>Manan Shah(2023)- Environmental </a:t>
            </a:r>
          </a:p>
          <a:p>
            <a:pPr>
              <a:buNone/>
            </a:pPr>
            <a:r>
              <a:rPr lang="en-IN" sz="2400"/>
              <a:t>Science and Pollution Research 30 (19), </a:t>
            </a:r>
          </a:p>
          <a:p>
            <a:pPr>
              <a:buNone/>
            </a:pPr>
            <a:r>
              <a:rPr lang="en-IN" sz="2400"/>
              <a:t>54303-54323, 2023​ </a:t>
            </a:r>
          </a:p>
          <a:p>
            <a:pPr>
              <a:buNone/>
            </a:pPr>
            <a:r>
              <a:rPr lang="en-IN" sz="2400"/>
              <a:t>3. Joshua O </a:t>
            </a:r>
            <a:r>
              <a:rPr lang="en-IN" sz="2400" err="1"/>
              <a:t>Ighalo</a:t>
            </a:r>
            <a:r>
              <a:rPr lang="en-IN" sz="2400"/>
              <a:t>, Adewale George Adeniyi, </a:t>
            </a:r>
          </a:p>
          <a:p>
            <a:pPr>
              <a:buNone/>
            </a:pPr>
            <a:r>
              <a:rPr lang="en-IN" sz="2400"/>
              <a:t>Gonçal-</a:t>
            </a:r>
            <a:r>
              <a:rPr lang="en-IN" sz="2400" err="1"/>
              <a:t>Modeling</a:t>
            </a:r>
            <a:r>
              <a:rPr lang="en-IN" sz="2400"/>
              <a:t> Earth Systems and </a:t>
            </a:r>
          </a:p>
          <a:p>
            <a:pPr>
              <a:buNone/>
            </a:pPr>
            <a:r>
              <a:rPr lang="en-IN" sz="2400"/>
              <a:t>Environment 7 (2), 669-681, 2021​1</a:t>
            </a:r>
          </a:p>
        </p:txBody>
      </p:sp>
    </p:spTree>
    <p:extLst>
      <p:ext uri="{BB962C8B-B14F-4D97-AF65-F5344CB8AC3E}">
        <p14:creationId xmlns:p14="http://schemas.microsoft.com/office/powerpoint/2010/main" val="2537771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C450-1898-78FC-7540-1A771C36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729D60-C0F7-3B43-4259-567CA92EFD3D}"/>
              </a:ext>
            </a:extLst>
          </p:cNvPr>
          <p:cNvSpPr txBox="1"/>
          <p:nvPr/>
        </p:nvSpPr>
        <p:spPr>
          <a:xfrm>
            <a:off x="3873909" y="38222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D1771-AD67-D67E-62C7-E2226FC43A5F}"/>
              </a:ext>
            </a:extLst>
          </p:cNvPr>
          <p:cNvSpPr txBox="1"/>
          <p:nvPr/>
        </p:nvSpPr>
        <p:spPr>
          <a:xfrm>
            <a:off x="4053807" y="77530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/>
              <a:t>══════════                                                                  </a:t>
            </a:r>
            <a:r>
              <a:rPr lang="en-IN" sz="5400" b="1"/>
              <a:t>THANK YOU ! </a:t>
            </a:r>
            <a:r>
              <a:rPr lang="en-IN" sz="5400"/>
              <a:t> ══════════</a:t>
            </a:r>
          </a:p>
          <a:p>
            <a:pPr>
              <a:buNone/>
            </a:pPr>
            <a:endParaRPr lang="en-IN" sz="54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35FEE9-5B98-AC5C-EB47-357098E610C3}"/>
              </a:ext>
            </a:extLst>
          </p:cNvPr>
          <p:cNvSpPr txBox="1"/>
          <p:nvPr/>
        </p:nvSpPr>
        <p:spPr>
          <a:xfrm>
            <a:off x="3205425" y="3647552"/>
            <a:ext cx="712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MACHIENE LEARNING BASED GROUNDWATER QUALITY 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8F549F-793F-3AF1-0BA2-0E9EDE1F1F56}"/>
              </a:ext>
            </a:extLst>
          </p:cNvPr>
          <p:cNvSpPr txBox="1"/>
          <p:nvPr/>
        </p:nvSpPr>
        <p:spPr>
          <a:xfrm>
            <a:off x="3366199" y="-286267"/>
            <a:ext cx="1036989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CoA GKVK</a:t>
            </a:r>
          </a:p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0D688-1853-3920-EAD7-0B4C741BB8F4}"/>
              </a:ext>
            </a:extLst>
          </p:cNvPr>
          <p:cNvSpPr txBox="1"/>
          <p:nvPr/>
        </p:nvSpPr>
        <p:spPr>
          <a:xfrm>
            <a:off x="4752870" y="4386216"/>
            <a:ext cx="1076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EAI-421: AI &amp; ML in Agriculture (0+10)</a:t>
            </a:r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994E7-595B-309E-72C7-EAFBA9205274}"/>
              </a:ext>
            </a:extLst>
          </p:cNvPr>
          <p:cNvSpPr txBox="1"/>
          <p:nvPr/>
        </p:nvSpPr>
        <p:spPr>
          <a:xfrm>
            <a:off x="9244483" y="5546690"/>
            <a:ext cx="2552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AMRUTHA VARSHINI</a:t>
            </a:r>
          </a:p>
          <a:p>
            <a:r>
              <a:rPr lang="en-IN"/>
              <a:t>K.KAVYA</a:t>
            </a:r>
          </a:p>
          <a:p>
            <a:r>
              <a:rPr lang="en-IN"/>
              <a:t>PROMOD.P </a:t>
            </a:r>
          </a:p>
        </p:txBody>
      </p:sp>
    </p:spTree>
    <p:extLst>
      <p:ext uri="{BB962C8B-B14F-4D97-AF65-F5344CB8AC3E}">
        <p14:creationId xmlns:p14="http://schemas.microsoft.com/office/powerpoint/2010/main" val="363467752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{72853F7C-F265-4D5E-869E-DBBF60258684}TFc3084226-2d0c-440f-9f46-6b48c7a7f670e6ba4a85-fc4a2881d6b3</Template>
  <Application>Microsoft Office PowerPoint</Application>
  <PresentationFormat>Widescreen</PresentationFormat>
  <Slides>20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Crop</vt:lpstr>
      <vt:lpstr> University of agricultural sciences,banglore-560065    College of Agriculture, GKVK    EAI-421: AI &amp; ML in Agriculture (0+10)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University of agricultural sciences,banglore-560065    College of Agriculture, GKVK    EAI-421: AI &amp; ML in Agriculture (0+10)</dc:title>
  <dc:creator>Keerthana S A</dc:creator>
  <cp:lastModifiedBy>kavyaagri0408@gmail.com</cp:lastModifiedBy>
  <cp:revision>1</cp:revision>
  <dcterms:created xsi:type="dcterms:W3CDTF">2026-04-13T09:58:26Z</dcterms:created>
  <dcterms:modified xsi:type="dcterms:W3CDTF">2026-04-13T15:43:58Z</dcterms:modified>
</cp:coreProperties>
</file>